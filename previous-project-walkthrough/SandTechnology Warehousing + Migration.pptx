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6256000" cy="9144000"/>
  <p:notesSz cx="9144000" cy="16256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128000" cy="9144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794000"/>
            <a:ext cx="6604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4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SandTechnology Warehousing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3454400"/>
            <a:ext cx="6604000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34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+ Migration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4318000"/>
            <a:ext cx="660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ELT Data Pipeline Project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914400" y="4953000"/>
            <a:ext cx="1016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81280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By Godfrey Lehoko</a:t>
            </a:r>
            <a:endParaRPr lang="en-US" sz="1400" dirty="0"/>
          </a:p>
        </p:txBody>
      </p:sp>
      <p:pic>
        <p:nvPicPr>
          <p:cNvPr id="8" name="Image 0" descr="https://kimi-img.moonshot.cn/pub/slides/okc/wyh56twrgxihg/mnt/agents/output/sandtechnology-warehousing/images/5_A_Complete_Guide_to_Data_Pipeli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0" y="0"/>
            <a:ext cx="8128000" cy="9144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28000" y="0"/>
            <a:ext cx="8128000" cy="9144000"/>
          </a:xfrm>
          <a:prstGeom prst="rect">
            <a:avLst/>
          </a:prstGeom>
          <a:gradFill rotWithShape="1" flip="none">
            <a:gsLst>
              <a:gs pos="0">
                <a:srgbClr val="1A3632">
                  <a:alpha val="80000"/>
                </a:srgbClr>
              </a:gs>
              <a:gs pos="30000">
                <a:srgbClr val="1A3632">
                  <a:alpha val="25000"/>
                </a:srgbClr>
              </a:gs>
              <a:gs pos="100000">
                <a:srgbClr val="1A3632">
                  <a:alpha val="0"/>
                </a:srgbClr>
              </a:gs>
            </a:gsLst>
            <a:lin ang="0" scaled="1"/>
          </a:gradFill>
          <a:ln/>
        </p:spPr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60400"/>
            <a:ext cx="508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219200"/>
            <a:ext cx="762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none"/>
          </a:ln>
        </p:spPr>
      </p:sp>
      <p:sp>
        <p:nvSpPr>
          <p:cNvPr id="4" name="Text 2"/>
          <p:cNvSpPr/>
          <p:nvPr/>
        </p:nvSpPr>
        <p:spPr>
          <a:xfrm>
            <a:off x="914400" y="17780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727200" y="1778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Aims &amp; Objectives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27200" y="21590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Project Goals &amp; Business Problem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2641600"/>
            <a:ext cx="14427200" cy="0"/>
          </a:xfrm>
          <a:prstGeom prst="straightConnector1">
            <a:avLst/>
          </a:prstGeom>
          <a:noFill/>
          <a:ln w="12700">
            <a:solidFill>
              <a:srgbClr val="E1E7E5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914400" y="28956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727200" y="28956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Architecture &amp; Tech Stack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727200" y="32766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ELT Pipeline &amp; Tool Selection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3759200"/>
            <a:ext cx="14427200" cy="0"/>
          </a:xfrm>
          <a:prstGeom prst="straightConnector1">
            <a:avLst/>
          </a:prstGeom>
          <a:noFill/>
          <a:ln w="12700">
            <a:solidFill>
              <a:srgbClr val="E1E7E5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14400" y="40132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727200" y="40132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Contribution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27200" y="43942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DBT Transformation Layer &amp; Data Modelling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4876800"/>
            <a:ext cx="14427200" cy="0"/>
          </a:xfrm>
          <a:prstGeom prst="straightConnector1">
            <a:avLst/>
          </a:prstGeom>
          <a:noFill/>
          <a:ln w="12700">
            <a:solidFill>
              <a:srgbClr val="E1E7E5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914400" y="51308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727200" y="51308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Scale &amp; Metrics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727200" y="55118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Pipeline Volume &amp; Complexity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5994400"/>
            <a:ext cx="14427200" cy="0"/>
          </a:xfrm>
          <a:prstGeom prst="straightConnector1">
            <a:avLst/>
          </a:prstGeom>
          <a:noFill/>
          <a:ln w="12700">
            <a:solidFill>
              <a:srgbClr val="E1E7E5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14400" y="62484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727200" y="62484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Challenges &amp; Failures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727200" y="66294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CDC, Data Quality &amp; Join Complexity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14400" y="7112000"/>
            <a:ext cx="14427200" cy="0"/>
          </a:xfrm>
          <a:prstGeom prst="straightConnector1">
            <a:avLst/>
          </a:prstGeom>
          <a:noFill/>
          <a:ln w="12700">
            <a:solidFill>
              <a:srgbClr val="E1E7E5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14400" y="73660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727200" y="7366000"/>
            <a:ext cx="635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Results &amp; Operations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727200" y="7747000"/>
            <a:ext cx="635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Deliverables, Reliability &amp; Impact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Aims &amp; Objectives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016000"/>
            <a:ext cx="14427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 Aims &amp; Objectives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651000"/>
            <a:ext cx="1016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Building a reliable and scalable data pipeline for student performance analytics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183773"/>
                </a:moveTo>
                <a:cubicBezTo>
                  <a:pt x="442096" y="192524"/>
                  <a:pt x="424747" y="199579"/>
                  <a:pt x="406683" y="205204"/>
                </a:cubicBezTo>
                <a:cubicBezTo>
                  <a:pt x="358718" y="220206"/>
                  <a:pt x="295751" y="228600"/>
                  <a:pt x="228600" y="228600"/>
                </a:cubicBezTo>
                <a:cubicBezTo>
                  <a:pt x="161449" y="228600"/>
                  <a:pt x="98380" y="220117"/>
                  <a:pt x="50517" y="205204"/>
                </a:cubicBezTo>
                <a:cubicBezTo>
                  <a:pt x="32555" y="199579"/>
                  <a:pt x="15104" y="192524"/>
                  <a:pt x="0" y="183773"/>
                </a:cubicBezTo>
                <a:lnTo>
                  <a:pt x="0" y="257175"/>
                </a:lnTo>
                <a:cubicBezTo>
                  <a:pt x="0" y="296644"/>
                  <a:pt x="102360" y="328613"/>
                  <a:pt x="228600" y="328613"/>
                </a:cubicBezTo>
                <a:cubicBezTo>
                  <a:pt x="354840" y="328613"/>
                  <a:pt x="457200" y="296644"/>
                  <a:pt x="457200" y="257175"/>
                </a:cubicBezTo>
                <a:lnTo>
                  <a:pt x="457200" y="183773"/>
                </a:lnTo>
                <a:close/>
                <a:moveTo>
                  <a:pt x="457200" y="114300"/>
                </a:moveTo>
                <a:lnTo>
                  <a:pt x="457200" y="71438"/>
                </a:lnTo>
                <a:cubicBezTo>
                  <a:pt x="457200" y="31968"/>
                  <a:pt x="354840" y="0"/>
                  <a:pt x="228600" y="0"/>
                </a:cubicBezTo>
                <a:cubicBezTo>
                  <a:pt x="102360" y="0"/>
                  <a:pt x="0" y="31968"/>
                  <a:pt x="0" y="71438"/>
                </a:cubicBezTo>
                <a:lnTo>
                  <a:pt x="0" y="114300"/>
                </a:lnTo>
                <a:cubicBezTo>
                  <a:pt x="0" y="153769"/>
                  <a:pt x="102360" y="185738"/>
                  <a:pt x="228600" y="185738"/>
                </a:cubicBezTo>
                <a:cubicBezTo>
                  <a:pt x="354840" y="185738"/>
                  <a:pt x="457200" y="153769"/>
                  <a:pt x="457200" y="114300"/>
                </a:cubicBezTo>
                <a:close/>
                <a:moveTo>
                  <a:pt x="406683" y="348079"/>
                </a:moveTo>
                <a:cubicBezTo>
                  <a:pt x="358820" y="362992"/>
                  <a:pt x="295853" y="371475"/>
                  <a:pt x="228600" y="371475"/>
                </a:cubicBezTo>
                <a:cubicBezTo>
                  <a:pt x="161347" y="371475"/>
                  <a:pt x="98380" y="362992"/>
                  <a:pt x="50517" y="348079"/>
                </a:cubicBezTo>
                <a:cubicBezTo>
                  <a:pt x="32555" y="342454"/>
                  <a:pt x="15104" y="335399"/>
                  <a:pt x="0" y="326648"/>
                </a:cubicBezTo>
                <a:lnTo>
                  <a:pt x="0" y="385763"/>
                </a:lnTo>
                <a:cubicBezTo>
                  <a:pt x="0" y="425232"/>
                  <a:pt x="102360" y="457200"/>
                  <a:pt x="228600" y="457200"/>
                </a:cubicBezTo>
                <a:cubicBezTo>
                  <a:pt x="354840" y="457200"/>
                  <a:pt x="457200" y="425232"/>
                  <a:pt x="457200" y="385763"/>
                </a:cubicBezTo>
                <a:lnTo>
                  <a:pt x="457200" y="326648"/>
                </a:lnTo>
                <a:cubicBezTo>
                  <a:pt x="442096" y="335399"/>
                  <a:pt x="424747" y="342454"/>
                  <a:pt x="406683" y="348079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Centralise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92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Consolidate all student data from fragmented MariaDB tables into a single Redshift warehouse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420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0" name="Shape 8"/>
          <p:cNvSpPr/>
          <p:nvPr/>
        </p:nvSpPr>
        <p:spPr>
          <a:xfrm>
            <a:off x="61468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45758" y="-8840"/>
                </a:moveTo>
                <a:cubicBezTo>
                  <a:pt x="357902" y="-1161"/>
                  <a:pt x="362392" y="12769"/>
                  <a:pt x="356881" y="24914"/>
                </a:cubicBezTo>
                <a:lnTo>
                  <a:pt x="276871" y="200025"/>
                </a:lnTo>
                <a:lnTo>
                  <a:pt x="424543" y="200025"/>
                </a:lnTo>
                <a:cubicBezTo>
                  <a:pt x="438320" y="200025"/>
                  <a:pt x="450567" y="207526"/>
                  <a:pt x="455261" y="218867"/>
                </a:cubicBezTo>
                <a:cubicBezTo>
                  <a:pt x="459955" y="230207"/>
                  <a:pt x="455975" y="242888"/>
                  <a:pt x="445464" y="250567"/>
                </a:cubicBezTo>
                <a:lnTo>
                  <a:pt x="151550" y="464880"/>
                </a:lnTo>
                <a:cubicBezTo>
                  <a:pt x="140018" y="473273"/>
                  <a:pt x="123587" y="473720"/>
                  <a:pt x="111443" y="466040"/>
                </a:cubicBezTo>
                <a:cubicBezTo>
                  <a:pt x="99298" y="458361"/>
                  <a:pt x="94808" y="444431"/>
                  <a:pt x="100319" y="432286"/>
                </a:cubicBezTo>
                <a:lnTo>
                  <a:pt x="180329" y="257175"/>
                </a:lnTo>
                <a:lnTo>
                  <a:pt x="32657" y="257175"/>
                </a:lnTo>
                <a:cubicBezTo>
                  <a:pt x="18880" y="257175"/>
                  <a:pt x="6633" y="249674"/>
                  <a:pt x="1939" y="238333"/>
                </a:cubicBezTo>
                <a:cubicBezTo>
                  <a:pt x="-2755" y="226993"/>
                  <a:pt x="1225" y="214312"/>
                  <a:pt x="11736" y="206633"/>
                </a:cubicBezTo>
                <a:lnTo>
                  <a:pt x="305650" y="-7680"/>
                </a:lnTo>
                <a:cubicBezTo>
                  <a:pt x="317183" y="-16073"/>
                  <a:pt x="333613" y="-16520"/>
                  <a:pt x="345758" y="-8840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61468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 Sync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468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Enable near real-time updates using CDC from MariaDB to Redshift without full reloads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7696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744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cubicBezTo>
                  <a:pt x="57150" y="41344"/>
                  <a:pt x="44381" y="28575"/>
                  <a:pt x="28575" y="28575"/>
                </a:cubicBezTo>
                <a:cubicBezTo>
                  <a:pt x="12769" y="28575"/>
                  <a:pt x="0" y="41344"/>
                  <a:pt x="0" y="57150"/>
                </a:cubicBezTo>
                <a:lnTo>
                  <a:pt x="0" y="357188"/>
                </a:lnTo>
                <a:cubicBezTo>
                  <a:pt x="0" y="396657"/>
                  <a:pt x="31968" y="428625"/>
                  <a:pt x="71438" y="428625"/>
                </a:cubicBezTo>
                <a:lnTo>
                  <a:pt x="428625" y="428625"/>
                </a:lnTo>
                <a:cubicBezTo>
                  <a:pt x="444431" y="428625"/>
                  <a:pt x="457200" y="415856"/>
                  <a:pt x="457200" y="400050"/>
                </a:cubicBezTo>
                <a:cubicBezTo>
                  <a:pt x="457200" y="384244"/>
                  <a:pt x="444431" y="371475"/>
                  <a:pt x="428625" y="371475"/>
                </a:cubicBezTo>
                <a:lnTo>
                  <a:pt x="71438" y="371475"/>
                </a:lnTo>
                <a:cubicBezTo>
                  <a:pt x="63579" y="371475"/>
                  <a:pt x="57150" y="365046"/>
                  <a:pt x="57150" y="357188"/>
                </a:cubicBezTo>
                <a:lnTo>
                  <a:pt x="57150" y="57150"/>
                </a:lnTo>
                <a:close/>
                <a:moveTo>
                  <a:pt x="420231" y="134481"/>
                </a:moveTo>
                <a:cubicBezTo>
                  <a:pt x="431393" y="123319"/>
                  <a:pt x="431393" y="105192"/>
                  <a:pt x="420231" y="94030"/>
                </a:cubicBezTo>
                <a:cubicBezTo>
                  <a:pt x="409069" y="82867"/>
                  <a:pt x="390942" y="82867"/>
                  <a:pt x="379780" y="94030"/>
                </a:cubicBezTo>
                <a:lnTo>
                  <a:pt x="285750" y="188149"/>
                </a:lnTo>
                <a:lnTo>
                  <a:pt x="234494" y="136981"/>
                </a:lnTo>
                <a:cubicBezTo>
                  <a:pt x="223331" y="125819"/>
                  <a:pt x="205204" y="125819"/>
                  <a:pt x="194042" y="136981"/>
                </a:cubicBezTo>
                <a:lnTo>
                  <a:pt x="108317" y="222706"/>
                </a:lnTo>
                <a:cubicBezTo>
                  <a:pt x="97155" y="233869"/>
                  <a:pt x="97155" y="251996"/>
                  <a:pt x="108317" y="263158"/>
                </a:cubicBezTo>
                <a:cubicBezTo>
                  <a:pt x="119479" y="274320"/>
                  <a:pt x="137606" y="274320"/>
                  <a:pt x="148769" y="263158"/>
                </a:cubicBezTo>
                <a:lnTo>
                  <a:pt x="214313" y="197614"/>
                </a:lnTo>
                <a:lnTo>
                  <a:pt x="265569" y="248870"/>
                </a:lnTo>
                <a:cubicBezTo>
                  <a:pt x="276731" y="260033"/>
                  <a:pt x="294858" y="260033"/>
                  <a:pt x="306020" y="248870"/>
                </a:cubicBezTo>
                <a:lnTo>
                  <a:pt x="420320" y="134570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110744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Analytics-Ready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0744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 raw operational data into structured datasets powering QuickSight dashboards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Aims &amp; Objectives / Project Goals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Student Data Fragmentation Solved by Centralised Warehouse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397000"/>
            <a:ext cx="14427200" cy="1270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5" name="Shape 3"/>
          <p:cNvSpPr/>
          <p:nvPr/>
        </p:nvSpPr>
        <p:spPr>
          <a:xfrm>
            <a:off x="1219200" y="1651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0"/>
                </a:moveTo>
                <a:cubicBezTo>
                  <a:pt x="214868" y="0"/>
                  <a:pt x="225584" y="6429"/>
                  <a:pt x="231140" y="16669"/>
                </a:cubicBezTo>
                <a:lnTo>
                  <a:pt x="402590" y="334169"/>
                </a:lnTo>
                <a:cubicBezTo>
                  <a:pt x="407908" y="344011"/>
                  <a:pt x="407670" y="355918"/>
                  <a:pt x="401955" y="365522"/>
                </a:cubicBezTo>
                <a:cubicBezTo>
                  <a:pt x="396240" y="375126"/>
                  <a:pt x="385842" y="381000"/>
                  <a:pt x="374650" y="381000"/>
                </a:cubicBezTo>
                <a:lnTo>
                  <a:pt x="31750" y="381000"/>
                </a:lnTo>
                <a:cubicBezTo>
                  <a:pt x="20558" y="381000"/>
                  <a:pt x="10239" y="375126"/>
                  <a:pt x="4445" y="365522"/>
                </a:cubicBezTo>
                <a:cubicBezTo>
                  <a:pt x="-1349" y="355918"/>
                  <a:pt x="-1508" y="344011"/>
                  <a:pt x="3810" y="334169"/>
                </a:cubicBezTo>
                <a:lnTo>
                  <a:pt x="175260" y="16669"/>
                </a:lnTo>
                <a:cubicBezTo>
                  <a:pt x="180816" y="6429"/>
                  <a:pt x="191532" y="0"/>
                  <a:pt x="203200" y="0"/>
                </a:cubicBezTo>
                <a:close/>
                <a:moveTo>
                  <a:pt x="203200" y="133350"/>
                </a:moveTo>
                <a:cubicBezTo>
                  <a:pt x="192643" y="133350"/>
                  <a:pt x="184150" y="141843"/>
                  <a:pt x="184150" y="152400"/>
                </a:cubicBezTo>
                <a:lnTo>
                  <a:pt x="184150" y="241300"/>
                </a:lnTo>
                <a:cubicBezTo>
                  <a:pt x="184150" y="251857"/>
                  <a:pt x="192643" y="260350"/>
                  <a:pt x="203200" y="260350"/>
                </a:cubicBezTo>
                <a:cubicBezTo>
                  <a:pt x="213757" y="260350"/>
                  <a:pt x="222250" y="251857"/>
                  <a:pt x="222250" y="241300"/>
                </a:cubicBezTo>
                <a:lnTo>
                  <a:pt x="222250" y="152400"/>
                </a:lnTo>
                <a:cubicBezTo>
                  <a:pt x="222250" y="141843"/>
                  <a:pt x="213757" y="133350"/>
                  <a:pt x="203200" y="133350"/>
                </a:cubicBezTo>
                <a:close/>
                <a:moveTo>
                  <a:pt x="224393" y="304800"/>
                </a:moveTo>
                <a:cubicBezTo>
                  <a:pt x="224875" y="296933"/>
                  <a:pt x="220952" y="289449"/>
                  <a:pt x="214208" y="285370"/>
                </a:cubicBezTo>
                <a:cubicBezTo>
                  <a:pt x="207465" y="281291"/>
                  <a:pt x="199015" y="281291"/>
                  <a:pt x="192271" y="285370"/>
                </a:cubicBezTo>
                <a:cubicBezTo>
                  <a:pt x="185527" y="289449"/>
                  <a:pt x="181604" y="296933"/>
                  <a:pt x="182086" y="304800"/>
                </a:cubicBezTo>
                <a:cubicBezTo>
                  <a:pt x="181604" y="312667"/>
                  <a:pt x="185527" y="320151"/>
                  <a:pt x="192271" y="324230"/>
                </a:cubicBezTo>
                <a:cubicBezTo>
                  <a:pt x="199015" y="328309"/>
                  <a:pt x="207465" y="328309"/>
                  <a:pt x="214208" y="324230"/>
                </a:cubicBezTo>
                <a:cubicBezTo>
                  <a:pt x="220952" y="320151"/>
                  <a:pt x="224875" y="312667"/>
                  <a:pt x="224393" y="304800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549400"/>
            <a:ext cx="132080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Problem: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Student data was fragmented across multiple tables and systems, making it difficult for analysts to generate consistent performance insights.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048000"/>
            <a:ext cx="4572000" cy="254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32512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219200" y="3759200"/>
            <a:ext cx="396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Centralise in Redshift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4140200"/>
            <a:ext cx="3962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Move all student records into a single cloud data warehouse for unified analytics access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42000" y="3048000"/>
            <a:ext cx="4572000" cy="254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146800" y="32512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146800" y="3759200"/>
            <a:ext cx="396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Enable Near Real-Time CDC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146800" y="4140200"/>
            <a:ext cx="3962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Continuously replicate changes from MariaDB so analysts always work with fresh data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769600" y="3048000"/>
            <a:ext cx="4572000" cy="254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074400" y="3251200"/>
            <a:ext cx="711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1074400" y="3759200"/>
            <a:ext cx="396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Transform for Analytics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074400" y="4140200"/>
            <a:ext cx="3962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Convert raw OLTP data into structured, tested, analytics-ready datasets for QuickSight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4400" y="6096000"/>
            <a:ext cx="144272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219200" y="62738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Expected Outcome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19200" y="6705600"/>
            <a:ext cx="13817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reliable, scalable ELT pipeline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replacing manual, inconsistent reporting processes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Analysts can self-serve performance insights without engineering support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3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&amp; Tech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016000"/>
            <a:ext cx="14427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 Architecture &amp; Tech Stack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651000"/>
            <a:ext cx="1143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Modern ELT pattern leveraging cloud-native tools for scalable data integration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65314" y="28575"/>
                </a:moveTo>
                <a:cubicBezTo>
                  <a:pt x="29289" y="28575"/>
                  <a:pt x="0" y="54203"/>
                  <a:pt x="0" y="85725"/>
                </a:cubicBezTo>
                <a:lnTo>
                  <a:pt x="0" y="142875"/>
                </a:lnTo>
                <a:cubicBezTo>
                  <a:pt x="0" y="174397"/>
                  <a:pt x="29289" y="200025"/>
                  <a:pt x="65314" y="200025"/>
                </a:cubicBezTo>
                <a:lnTo>
                  <a:pt x="391886" y="200025"/>
                </a:lnTo>
                <a:cubicBezTo>
                  <a:pt x="427911" y="200025"/>
                  <a:pt x="457200" y="174397"/>
                  <a:pt x="457200" y="142875"/>
                </a:cubicBezTo>
                <a:lnTo>
                  <a:pt x="457200" y="85725"/>
                </a:lnTo>
                <a:cubicBezTo>
                  <a:pt x="457200" y="54203"/>
                  <a:pt x="427911" y="28575"/>
                  <a:pt x="391886" y="28575"/>
                </a:cubicBezTo>
                <a:lnTo>
                  <a:pt x="65314" y="28575"/>
                </a:lnTo>
                <a:close/>
                <a:moveTo>
                  <a:pt x="285750" y="92869"/>
                </a:moveTo>
                <a:cubicBezTo>
                  <a:pt x="299268" y="92869"/>
                  <a:pt x="310243" y="102472"/>
                  <a:pt x="310243" y="114300"/>
                </a:cubicBezTo>
                <a:cubicBezTo>
                  <a:pt x="310243" y="126128"/>
                  <a:pt x="299268" y="135731"/>
                  <a:pt x="285750" y="135731"/>
                </a:cubicBezTo>
                <a:cubicBezTo>
                  <a:pt x="272232" y="135731"/>
                  <a:pt x="261257" y="126128"/>
                  <a:pt x="261257" y="114300"/>
                </a:cubicBezTo>
                <a:cubicBezTo>
                  <a:pt x="261257" y="102472"/>
                  <a:pt x="272232" y="92869"/>
                  <a:pt x="285750" y="92869"/>
                </a:cubicBezTo>
                <a:close/>
                <a:moveTo>
                  <a:pt x="342900" y="114300"/>
                </a:moveTo>
                <a:cubicBezTo>
                  <a:pt x="342900" y="102472"/>
                  <a:pt x="353875" y="92869"/>
                  <a:pt x="367393" y="92869"/>
                </a:cubicBezTo>
                <a:cubicBezTo>
                  <a:pt x="380911" y="92869"/>
                  <a:pt x="391886" y="102472"/>
                  <a:pt x="391886" y="114300"/>
                </a:cubicBezTo>
                <a:cubicBezTo>
                  <a:pt x="391886" y="126128"/>
                  <a:pt x="380911" y="135731"/>
                  <a:pt x="367393" y="135731"/>
                </a:cubicBezTo>
                <a:cubicBezTo>
                  <a:pt x="353875" y="135731"/>
                  <a:pt x="342900" y="126128"/>
                  <a:pt x="342900" y="114300"/>
                </a:cubicBezTo>
                <a:close/>
                <a:moveTo>
                  <a:pt x="65314" y="257175"/>
                </a:moveTo>
                <a:cubicBezTo>
                  <a:pt x="29289" y="257175"/>
                  <a:pt x="0" y="282803"/>
                  <a:pt x="0" y="314325"/>
                </a:cubicBezTo>
                <a:lnTo>
                  <a:pt x="0" y="371475"/>
                </a:lnTo>
                <a:cubicBezTo>
                  <a:pt x="0" y="402997"/>
                  <a:pt x="29289" y="428625"/>
                  <a:pt x="65314" y="428625"/>
                </a:cubicBezTo>
                <a:lnTo>
                  <a:pt x="391886" y="428625"/>
                </a:lnTo>
                <a:cubicBezTo>
                  <a:pt x="427911" y="428625"/>
                  <a:pt x="457200" y="402997"/>
                  <a:pt x="457200" y="371475"/>
                </a:cubicBezTo>
                <a:lnTo>
                  <a:pt x="457200" y="314325"/>
                </a:lnTo>
                <a:cubicBezTo>
                  <a:pt x="457200" y="282803"/>
                  <a:pt x="427911" y="257175"/>
                  <a:pt x="391886" y="257175"/>
                </a:cubicBezTo>
                <a:lnTo>
                  <a:pt x="65314" y="257175"/>
                </a:lnTo>
                <a:close/>
                <a:moveTo>
                  <a:pt x="285750" y="321469"/>
                </a:moveTo>
                <a:cubicBezTo>
                  <a:pt x="299268" y="321469"/>
                  <a:pt x="310243" y="331072"/>
                  <a:pt x="310243" y="342900"/>
                </a:cubicBezTo>
                <a:cubicBezTo>
                  <a:pt x="310243" y="354728"/>
                  <a:pt x="299268" y="364331"/>
                  <a:pt x="285750" y="364331"/>
                </a:cubicBezTo>
                <a:cubicBezTo>
                  <a:pt x="272232" y="364331"/>
                  <a:pt x="261257" y="354728"/>
                  <a:pt x="261257" y="342900"/>
                </a:cubicBezTo>
                <a:cubicBezTo>
                  <a:pt x="261257" y="331072"/>
                  <a:pt x="272232" y="321469"/>
                  <a:pt x="285750" y="321469"/>
                </a:cubicBezTo>
                <a:close/>
                <a:moveTo>
                  <a:pt x="342900" y="342900"/>
                </a:moveTo>
                <a:cubicBezTo>
                  <a:pt x="342900" y="331072"/>
                  <a:pt x="353875" y="321469"/>
                  <a:pt x="367393" y="321469"/>
                </a:cubicBezTo>
                <a:cubicBezTo>
                  <a:pt x="380911" y="321469"/>
                  <a:pt x="391886" y="331072"/>
                  <a:pt x="391886" y="342900"/>
                </a:cubicBezTo>
                <a:cubicBezTo>
                  <a:pt x="391886" y="354728"/>
                  <a:pt x="380911" y="364331"/>
                  <a:pt x="367393" y="364331"/>
                </a:cubicBezTo>
                <a:cubicBezTo>
                  <a:pt x="353875" y="364331"/>
                  <a:pt x="342900" y="354728"/>
                  <a:pt x="342900" y="342900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Extract &amp; Load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92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MariaDB OLTP source ingested via AWS DMS with CDC into Redshift raw/staging layer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420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0" name="Shape 8"/>
          <p:cNvSpPr/>
          <p:nvPr/>
        </p:nvSpPr>
        <p:spPr>
          <a:xfrm>
            <a:off x="61468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6385" y="1072"/>
                </a:moveTo>
                <a:cubicBezTo>
                  <a:pt x="272891" y="-3304"/>
                  <a:pt x="258842" y="5536"/>
                  <a:pt x="254953" y="20717"/>
                </a:cubicBezTo>
                <a:lnTo>
                  <a:pt x="153353" y="420767"/>
                </a:lnTo>
                <a:cubicBezTo>
                  <a:pt x="149463" y="435947"/>
                  <a:pt x="157321" y="451753"/>
                  <a:pt x="170815" y="456128"/>
                </a:cubicBezTo>
                <a:cubicBezTo>
                  <a:pt x="184309" y="460504"/>
                  <a:pt x="198358" y="451664"/>
                  <a:pt x="202248" y="436483"/>
                </a:cubicBezTo>
                <a:lnTo>
                  <a:pt x="303848" y="36433"/>
                </a:lnTo>
                <a:cubicBezTo>
                  <a:pt x="307737" y="21253"/>
                  <a:pt x="299879" y="5447"/>
                  <a:pt x="286385" y="1072"/>
                </a:cubicBezTo>
                <a:close/>
                <a:moveTo>
                  <a:pt x="337661" y="122605"/>
                </a:moveTo>
                <a:cubicBezTo>
                  <a:pt x="327739" y="133767"/>
                  <a:pt x="327739" y="151894"/>
                  <a:pt x="337661" y="163056"/>
                </a:cubicBezTo>
                <a:lnTo>
                  <a:pt x="395922" y="228600"/>
                </a:lnTo>
                <a:lnTo>
                  <a:pt x="337661" y="294144"/>
                </a:lnTo>
                <a:cubicBezTo>
                  <a:pt x="327739" y="305306"/>
                  <a:pt x="327739" y="323433"/>
                  <a:pt x="337661" y="334595"/>
                </a:cubicBezTo>
                <a:cubicBezTo>
                  <a:pt x="347583" y="345758"/>
                  <a:pt x="363696" y="345758"/>
                  <a:pt x="373618" y="334595"/>
                </a:cubicBezTo>
                <a:lnTo>
                  <a:pt x="449818" y="248870"/>
                </a:lnTo>
                <a:cubicBezTo>
                  <a:pt x="459740" y="237708"/>
                  <a:pt x="459740" y="219581"/>
                  <a:pt x="449818" y="208419"/>
                </a:cubicBezTo>
                <a:lnTo>
                  <a:pt x="373618" y="122694"/>
                </a:lnTo>
                <a:cubicBezTo>
                  <a:pt x="363696" y="111532"/>
                  <a:pt x="347583" y="111532"/>
                  <a:pt x="337661" y="122694"/>
                </a:cubicBezTo>
                <a:close/>
                <a:moveTo>
                  <a:pt x="119618" y="122605"/>
                </a:moveTo>
                <a:cubicBezTo>
                  <a:pt x="109696" y="111442"/>
                  <a:pt x="93583" y="111442"/>
                  <a:pt x="83661" y="122605"/>
                </a:cubicBezTo>
                <a:lnTo>
                  <a:pt x="7461" y="208330"/>
                </a:lnTo>
                <a:cubicBezTo>
                  <a:pt x="-2461" y="219492"/>
                  <a:pt x="-2461" y="237619"/>
                  <a:pt x="7461" y="248781"/>
                </a:cubicBezTo>
                <a:lnTo>
                  <a:pt x="83661" y="334506"/>
                </a:lnTo>
                <a:cubicBezTo>
                  <a:pt x="93583" y="345668"/>
                  <a:pt x="109696" y="345668"/>
                  <a:pt x="119618" y="334506"/>
                </a:cubicBezTo>
                <a:cubicBezTo>
                  <a:pt x="129540" y="323344"/>
                  <a:pt x="129540" y="305217"/>
                  <a:pt x="119618" y="294055"/>
                </a:cubicBezTo>
                <a:lnTo>
                  <a:pt x="61357" y="228600"/>
                </a:lnTo>
                <a:lnTo>
                  <a:pt x="119539" y="163056"/>
                </a:lnTo>
                <a:cubicBezTo>
                  <a:pt x="129461" y="151894"/>
                  <a:pt x="129461" y="133767"/>
                  <a:pt x="119539" y="122605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61468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Transform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468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DBT runs SQL transformations inside Redshift — staging, intermediate, and marts layers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7696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744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06718" y="214313"/>
                </a:moveTo>
                <a:lnTo>
                  <a:pt x="267017" y="214313"/>
                </a:lnTo>
                <a:cubicBezTo>
                  <a:pt x="252968" y="214313"/>
                  <a:pt x="241618" y="201543"/>
                  <a:pt x="241618" y="185738"/>
                </a:cubicBezTo>
                <a:lnTo>
                  <a:pt x="241618" y="28575"/>
                </a:lnTo>
                <a:cubicBezTo>
                  <a:pt x="241618" y="12769"/>
                  <a:pt x="253047" y="-179"/>
                  <a:pt x="266938" y="1875"/>
                </a:cubicBezTo>
                <a:cubicBezTo>
                  <a:pt x="351869" y="14555"/>
                  <a:pt x="419179" y="90279"/>
                  <a:pt x="430451" y="185827"/>
                </a:cubicBezTo>
                <a:cubicBezTo>
                  <a:pt x="432276" y="201454"/>
                  <a:pt x="420767" y="214313"/>
                  <a:pt x="406718" y="214313"/>
                </a:cubicBezTo>
                <a:close/>
                <a:moveTo>
                  <a:pt x="176689" y="33218"/>
                </a:moveTo>
                <a:cubicBezTo>
                  <a:pt x="191056" y="29825"/>
                  <a:pt x="203518" y="43041"/>
                  <a:pt x="203518" y="59561"/>
                </a:cubicBezTo>
                <a:lnTo>
                  <a:pt x="203518" y="235744"/>
                </a:lnTo>
                <a:cubicBezTo>
                  <a:pt x="203518" y="240744"/>
                  <a:pt x="205105" y="245566"/>
                  <a:pt x="207883" y="249406"/>
                </a:cubicBezTo>
                <a:lnTo>
                  <a:pt x="312738" y="391745"/>
                </a:lnTo>
                <a:cubicBezTo>
                  <a:pt x="322024" y="404336"/>
                  <a:pt x="320040" y="423356"/>
                  <a:pt x="307261" y="431125"/>
                </a:cubicBezTo>
                <a:cubicBezTo>
                  <a:pt x="280194" y="447735"/>
                  <a:pt x="249158" y="457200"/>
                  <a:pt x="216218" y="457200"/>
                </a:cubicBezTo>
                <a:cubicBezTo>
                  <a:pt x="111046" y="457200"/>
                  <a:pt x="25718" y="361206"/>
                  <a:pt x="25718" y="242888"/>
                </a:cubicBezTo>
                <a:cubicBezTo>
                  <a:pt x="25718" y="139750"/>
                  <a:pt x="90408" y="53667"/>
                  <a:pt x="176689" y="33218"/>
                </a:cubicBezTo>
                <a:close/>
                <a:moveTo>
                  <a:pt x="379254" y="257175"/>
                </a:moveTo>
                <a:lnTo>
                  <a:pt x="430054" y="257175"/>
                </a:lnTo>
                <a:cubicBezTo>
                  <a:pt x="444738" y="257175"/>
                  <a:pt x="456486" y="271195"/>
                  <a:pt x="453469" y="287357"/>
                </a:cubicBezTo>
                <a:cubicBezTo>
                  <a:pt x="445373" y="330577"/>
                  <a:pt x="425688" y="368975"/>
                  <a:pt x="398224" y="398264"/>
                </a:cubicBezTo>
                <a:cubicBezTo>
                  <a:pt x="388461" y="408712"/>
                  <a:pt x="373142" y="406479"/>
                  <a:pt x="364569" y="394781"/>
                </a:cubicBezTo>
                <a:lnTo>
                  <a:pt x="297577" y="303967"/>
                </a:lnTo>
                <a:cubicBezTo>
                  <a:pt x="283845" y="285304"/>
                  <a:pt x="295672" y="257175"/>
                  <a:pt x="317103" y="257175"/>
                </a:cubicBezTo>
                <a:lnTo>
                  <a:pt x="379174" y="257175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110744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Visualise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0744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QuickSight dashboards consume the star-schema marts for interactive student performance reporting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/ ELT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ELT Pipeline: From MariaDB OLTP to QuickSight Analytics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270000"/>
            <a:ext cx="14427200" cy="1016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1422400"/>
            <a:ext cx="13817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Design Decision:</a:t>
            </a:r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ELT instead of ETL — Redshift handles transformations at scale, making DBT the ideal tool inside the warehouse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2794000"/>
            <a:ext cx="2540000" cy="1524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778000" y="2946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406400" y="163354"/>
                </a:moveTo>
                <a:cubicBezTo>
                  <a:pt x="392974" y="171133"/>
                  <a:pt x="377553" y="177403"/>
                  <a:pt x="361496" y="182404"/>
                </a:cubicBezTo>
                <a:cubicBezTo>
                  <a:pt x="318861" y="195739"/>
                  <a:pt x="262890" y="203200"/>
                  <a:pt x="203200" y="203200"/>
                </a:cubicBezTo>
                <a:cubicBezTo>
                  <a:pt x="143510" y="203200"/>
                  <a:pt x="87449" y="195659"/>
                  <a:pt x="44904" y="182404"/>
                </a:cubicBezTo>
                <a:cubicBezTo>
                  <a:pt x="28938" y="177403"/>
                  <a:pt x="13426" y="171133"/>
                  <a:pt x="0" y="163354"/>
                </a:cubicBezTo>
                <a:lnTo>
                  <a:pt x="0" y="228600"/>
                </a:lnTo>
                <a:cubicBezTo>
                  <a:pt x="0" y="263684"/>
                  <a:pt x="90986" y="292100"/>
                  <a:pt x="203200" y="292100"/>
                </a:cubicBezTo>
                <a:cubicBezTo>
                  <a:pt x="315414" y="292100"/>
                  <a:pt x="406400" y="263684"/>
                  <a:pt x="406400" y="228600"/>
                </a:cubicBezTo>
                <a:lnTo>
                  <a:pt x="406400" y="163354"/>
                </a:lnTo>
                <a:close/>
                <a:moveTo>
                  <a:pt x="406400" y="101600"/>
                </a:moveTo>
                <a:lnTo>
                  <a:pt x="406400" y="63500"/>
                </a:lnTo>
                <a:cubicBezTo>
                  <a:pt x="406400" y="28416"/>
                  <a:pt x="315414" y="0"/>
                  <a:pt x="203200" y="0"/>
                </a:cubicBezTo>
                <a:cubicBezTo>
                  <a:pt x="90986" y="0"/>
                  <a:pt x="0" y="28416"/>
                  <a:pt x="0" y="63500"/>
                </a:cubicBezTo>
                <a:lnTo>
                  <a:pt x="0" y="101600"/>
                </a:lnTo>
                <a:cubicBezTo>
                  <a:pt x="0" y="136684"/>
                  <a:pt x="90986" y="165100"/>
                  <a:pt x="203200" y="165100"/>
                </a:cubicBezTo>
                <a:cubicBezTo>
                  <a:pt x="315414" y="165100"/>
                  <a:pt x="406400" y="136684"/>
                  <a:pt x="406400" y="101600"/>
                </a:cubicBezTo>
                <a:close/>
                <a:moveTo>
                  <a:pt x="361496" y="309404"/>
                </a:moveTo>
                <a:cubicBezTo>
                  <a:pt x="318951" y="322659"/>
                  <a:pt x="262981" y="330200"/>
                  <a:pt x="203200" y="330200"/>
                </a:cubicBezTo>
                <a:cubicBezTo>
                  <a:pt x="143419" y="330200"/>
                  <a:pt x="87449" y="322659"/>
                  <a:pt x="44904" y="309404"/>
                </a:cubicBezTo>
                <a:cubicBezTo>
                  <a:pt x="28938" y="304403"/>
                  <a:pt x="13426" y="298133"/>
                  <a:pt x="0" y="290354"/>
                </a:cubicBezTo>
                <a:lnTo>
                  <a:pt x="0" y="342900"/>
                </a:lnTo>
                <a:cubicBezTo>
                  <a:pt x="0" y="377984"/>
                  <a:pt x="90986" y="406400"/>
                  <a:pt x="203200" y="406400"/>
                </a:cubicBezTo>
                <a:cubicBezTo>
                  <a:pt x="315414" y="406400"/>
                  <a:pt x="406400" y="377984"/>
                  <a:pt x="406400" y="342900"/>
                </a:cubicBezTo>
                <a:lnTo>
                  <a:pt x="406400" y="290354"/>
                </a:lnTo>
                <a:cubicBezTo>
                  <a:pt x="392974" y="298133"/>
                  <a:pt x="377553" y="304403"/>
                  <a:pt x="361496" y="309404"/>
                </a:cubicBezTo>
                <a:close/>
              </a:path>
            </a:pathLst>
          </a:custGeom>
          <a:solidFill>
            <a:srgbClr val="1A3632"/>
          </a:solidFill>
          <a:ln/>
        </p:spPr>
      </p:sp>
      <p:sp>
        <p:nvSpPr>
          <p:cNvPr id="8" name="Text 6"/>
          <p:cNvSpPr/>
          <p:nvPr/>
        </p:nvSpPr>
        <p:spPr>
          <a:xfrm>
            <a:off x="1041400" y="3454400"/>
            <a:ext cx="228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MariaDB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41400" y="3784600"/>
            <a:ext cx="228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OLTP Source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54400" y="3492500"/>
            <a:ext cx="508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3962400" y="2794000"/>
            <a:ext cx="2540000" cy="1524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4826000" y="2946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2308" y="181372"/>
                </a:moveTo>
                <a:cubicBezTo>
                  <a:pt x="62865" y="107553"/>
                  <a:pt x="126444" y="50800"/>
                  <a:pt x="203200" y="50800"/>
                </a:cubicBezTo>
                <a:cubicBezTo>
                  <a:pt x="245269" y="50800"/>
                  <a:pt x="283369" y="67866"/>
                  <a:pt x="310991" y="95409"/>
                </a:cubicBezTo>
                <a:cubicBezTo>
                  <a:pt x="311150" y="95568"/>
                  <a:pt x="311309" y="95726"/>
                  <a:pt x="311468" y="95885"/>
                </a:cubicBezTo>
                <a:lnTo>
                  <a:pt x="317500" y="101600"/>
                </a:lnTo>
                <a:lnTo>
                  <a:pt x="279479" y="101600"/>
                </a:lnTo>
                <a:cubicBezTo>
                  <a:pt x="265430" y="101600"/>
                  <a:pt x="254079" y="112951"/>
                  <a:pt x="254079" y="127000"/>
                </a:cubicBezTo>
                <a:cubicBezTo>
                  <a:pt x="254079" y="141049"/>
                  <a:pt x="265430" y="152400"/>
                  <a:pt x="279479" y="152400"/>
                </a:cubicBezTo>
                <a:lnTo>
                  <a:pt x="381079" y="152400"/>
                </a:lnTo>
                <a:cubicBezTo>
                  <a:pt x="395129" y="152400"/>
                  <a:pt x="406479" y="141049"/>
                  <a:pt x="406479" y="127000"/>
                </a:cubicBezTo>
                <a:lnTo>
                  <a:pt x="406479" y="25400"/>
                </a:lnTo>
                <a:cubicBezTo>
                  <a:pt x="406479" y="11351"/>
                  <a:pt x="395129" y="0"/>
                  <a:pt x="381079" y="0"/>
                </a:cubicBezTo>
                <a:cubicBezTo>
                  <a:pt x="367030" y="0"/>
                  <a:pt x="355679" y="11351"/>
                  <a:pt x="355679" y="25400"/>
                </a:cubicBezTo>
                <a:lnTo>
                  <a:pt x="355679" y="67786"/>
                </a:lnTo>
                <a:lnTo>
                  <a:pt x="346710" y="59293"/>
                </a:lnTo>
                <a:cubicBezTo>
                  <a:pt x="309959" y="22701"/>
                  <a:pt x="259159" y="0"/>
                  <a:pt x="203200" y="0"/>
                </a:cubicBezTo>
                <a:cubicBezTo>
                  <a:pt x="100806" y="0"/>
                  <a:pt x="16113" y="75724"/>
                  <a:pt x="2064" y="174228"/>
                </a:cubicBezTo>
                <a:cubicBezTo>
                  <a:pt x="79" y="188119"/>
                  <a:pt x="9684" y="200978"/>
                  <a:pt x="23574" y="202962"/>
                </a:cubicBezTo>
                <a:cubicBezTo>
                  <a:pt x="37465" y="204946"/>
                  <a:pt x="50324" y="195263"/>
                  <a:pt x="52308" y="181451"/>
                </a:cubicBezTo>
                <a:close/>
                <a:moveTo>
                  <a:pt x="404336" y="232172"/>
                </a:moveTo>
                <a:cubicBezTo>
                  <a:pt x="406321" y="218281"/>
                  <a:pt x="396637" y="205423"/>
                  <a:pt x="382826" y="203438"/>
                </a:cubicBezTo>
                <a:cubicBezTo>
                  <a:pt x="369014" y="201454"/>
                  <a:pt x="356076" y="211138"/>
                  <a:pt x="354092" y="224949"/>
                </a:cubicBezTo>
                <a:cubicBezTo>
                  <a:pt x="343535" y="298768"/>
                  <a:pt x="279956" y="355521"/>
                  <a:pt x="203200" y="355521"/>
                </a:cubicBezTo>
                <a:cubicBezTo>
                  <a:pt x="161131" y="355521"/>
                  <a:pt x="123031" y="338455"/>
                  <a:pt x="95409" y="310912"/>
                </a:cubicBezTo>
                <a:cubicBezTo>
                  <a:pt x="95250" y="310753"/>
                  <a:pt x="95091" y="310594"/>
                  <a:pt x="94932" y="310436"/>
                </a:cubicBezTo>
                <a:lnTo>
                  <a:pt x="88900" y="304721"/>
                </a:lnTo>
                <a:lnTo>
                  <a:pt x="126921" y="304721"/>
                </a:lnTo>
                <a:cubicBezTo>
                  <a:pt x="140970" y="304721"/>
                  <a:pt x="152321" y="293370"/>
                  <a:pt x="152321" y="279321"/>
                </a:cubicBezTo>
                <a:cubicBezTo>
                  <a:pt x="152321" y="265271"/>
                  <a:pt x="140970" y="253921"/>
                  <a:pt x="126921" y="253921"/>
                </a:cubicBezTo>
                <a:lnTo>
                  <a:pt x="25400" y="254000"/>
                </a:lnTo>
                <a:cubicBezTo>
                  <a:pt x="18653" y="254000"/>
                  <a:pt x="12144" y="256699"/>
                  <a:pt x="7382" y="261541"/>
                </a:cubicBezTo>
                <a:cubicBezTo>
                  <a:pt x="2619" y="266383"/>
                  <a:pt x="-79" y="272812"/>
                  <a:pt x="0" y="279638"/>
                </a:cubicBezTo>
                <a:lnTo>
                  <a:pt x="794" y="380444"/>
                </a:lnTo>
                <a:cubicBezTo>
                  <a:pt x="873" y="394494"/>
                  <a:pt x="12383" y="405765"/>
                  <a:pt x="26432" y="405606"/>
                </a:cubicBezTo>
                <a:cubicBezTo>
                  <a:pt x="40481" y="405448"/>
                  <a:pt x="51753" y="394017"/>
                  <a:pt x="51594" y="379968"/>
                </a:cubicBezTo>
                <a:lnTo>
                  <a:pt x="51276" y="339090"/>
                </a:lnTo>
                <a:lnTo>
                  <a:pt x="59769" y="347107"/>
                </a:lnTo>
                <a:cubicBezTo>
                  <a:pt x="96520" y="383699"/>
                  <a:pt x="147241" y="406400"/>
                  <a:pt x="203200" y="406400"/>
                </a:cubicBezTo>
                <a:cubicBezTo>
                  <a:pt x="305594" y="406400"/>
                  <a:pt x="390287" y="330676"/>
                  <a:pt x="404336" y="232172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3" name="Text 11"/>
          <p:cNvSpPr/>
          <p:nvPr/>
        </p:nvSpPr>
        <p:spPr>
          <a:xfrm>
            <a:off x="4089400" y="3454400"/>
            <a:ext cx="228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AWS DMS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089400" y="3784600"/>
            <a:ext cx="228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CDC Replication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02400" y="3492500"/>
            <a:ext cx="508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7010400" y="2794000"/>
            <a:ext cx="2540000" cy="1524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874000" y="2946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0" y="112792"/>
                </a:moveTo>
                <a:lnTo>
                  <a:pt x="0" y="381000"/>
                </a:lnTo>
                <a:cubicBezTo>
                  <a:pt x="0" y="395049"/>
                  <a:pt x="10089" y="406400"/>
                  <a:pt x="22578" y="406400"/>
                </a:cubicBezTo>
                <a:cubicBezTo>
                  <a:pt x="35066" y="406400"/>
                  <a:pt x="45156" y="395049"/>
                  <a:pt x="45156" y="381000"/>
                </a:cubicBezTo>
                <a:lnTo>
                  <a:pt x="45156" y="190500"/>
                </a:lnTo>
                <a:cubicBezTo>
                  <a:pt x="45156" y="176451"/>
                  <a:pt x="55245" y="165100"/>
                  <a:pt x="67733" y="165100"/>
                </a:cubicBezTo>
                <a:lnTo>
                  <a:pt x="338667" y="165100"/>
                </a:lnTo>
                <a:cubicBezTo>
                  <a:pt x="351155" y="165100"/>
                  <a:pt x="361244" y="176451"/>
                  <a:pt x="361244" y="190500"/>
                </a:cubicBezTo>
                <a:lnTo>
                  <a:pt x="361244" y="381000"/>
                </a:lnTo>
                <a:cubicBezTo>
                  <a:pt x="361244" y="395049"/>
                  <a:pt x="371334" y="406400"/>
                  <a:pt x="383822" y="406400"/>
                </a:cubicBezTo>
                <a:cubicBezTo>
                  <a:pt x="396311" y="406400"/>
                  <a:pt x="406400" y="395049"/>
                  <a:pt x="406400" y="381000"/>
                </a:cubicBezTo>
                <a:lnTo>
                  <a:pt x="406400" y="112792"/>
                </a:lnTo>
                <a:cubicBezTo>
                  <a:pt x="406400" y="90964"/>
                  <a:pt x="393982" y="71517"/>
                  <a:pt x="375497" y="64611"/>
                </a:cubicBezTo>
                <a:lnTo>
                  <a:pt x="213924" y="4048"/>
                </a:lnTo>
                <a:cubicBezTo>
                  <a:pt x="206939" y="1429"/>
                  <a:pt x="199461" y="1429"/>
                  <a:pt x="192476" y="4048"/>
                </a:cubicBezTo>
                <a:lnTo>
                  <a:pt x="30903" y="64611"/>
                </a:lnTo>
                <a:cubicBezTo>
                  <a:pt x="12418" y="71517"/>
                  <a:pt x="0" y="90964"/>
                  <a:pt x="0" y="112792"/>
                </a:cubicBezTo>
                <a:close/>
                <a:moveTo>
                  <a:pt x="327378" y="203200"/>
                </a:moveTo>
                <a:lnTo>
                  <a:pt x="79022" y="203200"/>
                </a:lnTo>
                <a:lnTo>
                  <a:pt x="79022" y="254000"/>
                </a:lnTo>
                <a:lnTo>
                  <a:pt x="327378" y="254000"/>
                </a:lnTo>
                <a:lnTo>
                  <a:pt x="327378" y="203200"/>
                </a:lnTo>
                <a:close/>
                <a:moveTo>
                  <a:pt x="79022" y="330200"/>
                </a:moveTo>
                <a:lnTo>
                  <a:pt x="327378" y="330200"/>
                </a:lnTo>
                <a:lnTo>
                  <a:pt x="327378" y="279400"/>
                </a:lnTo>
                <a:lnTo>
                  <a:pt x="79022" y="279400"/>
                </a:lnTo>
                <a:lnTo>
                  <a:pt x="79022" y="330200"/>
                </a:lnTo>
                <a:close/>
                <a:moveTo>
                  <a:pt x="327378" y="355600"/>
                </a:moveTo>
                <a:lnTo>
                  <a:pt x="79022" y="355600"/>
                </a:lnTo>
                <a:lnTo>
                  <a:pt x="79022" y="406400"/>
                </a:lnTo>
                <a:lnTo>
                  <a:pt x="327378" y="406400"/>
                </a:lnTo>
                <a:lnTo>
                  <a:pt x="327378" y="355600"/>
                </a:lnTo>
                <a:close/>
              </a:path>
            </a:pathLst>
          </a:custGeom>
          <a:solidFill>
            <a:srgbClr val="1A3632"/>
          </a:solidFill>
          <a:ln/>
        </p:spPr>
      </p:sp>
      <p:sp>
        <p:nvSpPr>
          <p:cNvPr id="18" name="Text 16"/>
          <p:cNvSpPr/>
          <p:nvPr/>
        </p:nvSpPr>
        <p:spPr>
          <a:xfrm>
            <a:off x="7137400" y="3454400"/>
            <a:ext cx="228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Redshift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7400" y="3784600"/>
            <a:ext cx="228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Raw / Staging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50400" y="3492500"/>
            <a:ext cx="508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10058400" y="2794000"/>
            <a:ext cx="2540000" cy="1524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Shape 20"/>
          <p:cNvSpPr/>
          <p:nvPr/>
        </p:nvSpPr>
        <p:spPr>
          <a:xfrm>
            <a:off x="10922000" y="2946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54564" y="953"/>
                </a:moveTo>
                <a:cubicBezTo>
                  <a:pt x="242570" y="-2937"/>
                  <a:pt x="230082" y="4921"/>
                  <a:pt x="226624" y="18415"/>
                </a:cubicBezTo>
                <a:lnTo>
                  <a:pt x="136313" y="374015"/>
                </a:lnTo>
                <a:cubicBezTo>
                  <a:pt x="132856" y="387509"/>
                  <a:pt x="139841" y="401558"/>
                  <a:pt x="151836" y="405448"/>
                </a:cubicBezTo>
                <a:cubicBezTo>
                  <a:pt x="163830" y="409337"/>
                  <a:pt x="176318" y="401479"/>
                  <a:pt x="179776" y="387985"/>
                </a:cubicBezTo>
                <a:lnTo>
                  <a:pt x="270087" y="32385"/>
                </a:lnTo>
                <a:cubicBezTo>
                  <a:pt x="273544" y="18891"/>
                  <a:pt x="266559" y="4842"/>
                  <a:pt x="254564" y="953"/>
                </a:cubicBezTo>
                <a:close/>
                <a:moveTo>
                  <a:pt x="300143" y="108982"/>
                </a:moveTo>
                <a:cubicBezTo>
                  <a:pt x="291324" y="118904"/>
                  <a:pt x="291324" y="135017"/>
                  <a:pt x="300143" y="144939"/>
                </a:cubicBezTo>
                <a:lnTo>
                  <a:pt x="351931" y="203200"/>
                </a:lnTo>
                <a:lnTo>
                  <a:pt x="300143" y="261461"/>
                </a:lnTo>
                <a:cubicBezTo>
                  <a:pt x="291324" y="271383"/>
                  <a:pt x="291324" y="287496"/>
                  <a:pt x="300143" y="297418"/>
                </a:cubicBezTo>
                <a:cubicBezTo>
                  <a:pt x="308963" y="307340"/>
                  <a:pt x="323286" y="307340"/>
                  <a:pt x="332105" y="297418"/>
                </a:cubicBezTo>
                <a:lnTo>
                  <a:pt x="399838" y="221218"/>
                </a:lnTo>
                <a:cubicBezTo>
                  <a:pt x="408658" y="211296"/>
                  <a:pt x="408658" y="195183"/>
                  <a:pt x="399838" y="185261"/>
                </a:cubicBezTo>
                <a:lnTo>
                  <a:pt x="332105" y="109061"/>
                </a:lnTo>
                <a:cubicBezTo>
                  <a:pt x="323286" y="99139"/>
                  <a:pt x="308963" y="99139"/>
                  <a:pt x="300143" y="109061"/>
                </a:cubicBezTo>
                <a:close/>
                <a:moveTo>
                  <a:pt x="106327" y="108982"/>
                </a:moveTo>
                <a:cubicBezTo>
                  <a:pt x="97508" y="99060"/>
                  <a:pt x="83185" y="99060"/>
                  <a:pt x="74366" y="108982"/>
                </a:cubicBezTo>
                <a:lnTo>
                  <a:pt x="6632" y="185182"/>
                </a:lnTo>
                <a:cubicBezTo>
                  <a:pt x="-2187" y="195104"/>
                  <a:pt x="-2187" y="211217"/>
                  <a:pt x="6632" y="221139"/>
                </a:cubicBezTo>
                <a:lnTo>
                  <a:pt x="74366" y="297339"/>
                </a:lnTo>
                <a:cubicBezTo>
                  <a:pt x="83185" y="307261"/>
                  <a:pt x="97508" y="307261"/>
                  <a:pt x="106327" y="297339"/>
                </a:cubicBezTo>
                <a:cubicBezTo>
                  <a:pt x="115147" y="287417"/>
                  <a:pt x="115147" y="271304"/>
                  <a:pt x="106327" y="261382"/>
                </a:cubicBezTo>
                <a:lnTo>
                  <a:pt x="54539" y="203200"/>
                </a:lnTo>
                <a:lnTo>
                  <a:pt x="106257" y="144939"/>
                </a:lnTo>
                <a:cubicBezTo>
                  <a:pt x="115076" y="135017"/>
                  <a:pt x="115076" y="118904"/>
                  <a:pt x="106257" y="108982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185400" y="3454400"/>
            <a:ext cx="228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DBT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185400" y="3784600"/>
            <a:ext cx="228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Transformations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2598400" y="3492500"/>
            <a:ext cx="508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13106400" y="2794000"/>
            <a:ext cx="2235200" cy="1524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3868400" y="29464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5400" y="25400"/>
                </a:moveTo>
                <a:cubicBezTo>
                  <a:pt x="39449" y="25400"/>
                  <a:pt x="50800" y="36751"/>
                  <a:pt x="50800" y="50800"/>
                </a:cubicBezTo>
                <a:lnTo>
                  <a:pt x="50800" y="317500"/>
                </a:lnTo>
                <a:cubicBezTo>
                  <a:pt x="50800" y="324485"/>
                  <a:pt x="56515" y="330200"/>
                  <a:pt x="63500" y="330200"/>
                </a:cubicBezTo>
                <a:lnTo>
                  <a:pt x="381000" y="330200"/>
                </a:lnTo>
                <a:cubicBezTo>
                  <a:pt x="395049" y="330200"/>
                  <a:pt x="406400" y="341551"/>
                  <a:pt x="406400" y="355600"/>
                </a:cubicBezTo>
                <a:cubicBezTo>
                  <a:pt x="406400" y="369649"/>
                  <a:pt x="395049" y="381000"/>
                  <a:pt x="381000" y="381000"/>
                </a:cubicBezTo>
                <a:lnTo>
                  <a:pt x="63500" y="381000"/>
                </a:lnTo>
                <a:cubicBezTo>
                  <a:pt x="28416" y="381000"/>
                  <a:pt x="0" y="352584"/>
                  <a:pt x="0" y="317500"/>
                </a:cubicBezTo>
                <a:lnTo>
                  <a:pt x="0" y="50800"/>
                </a:lnTo>
                <a:cubicBezTo>
                  <a:pt x="0" y="36751"/>
                  <a:pt x="11351" y="25400"/>
                  <a:pt x="25400" y="25400"/>
                </a:cubicBezTo>
                <a:close/>
                <a:moveTo>
                  <a:pt x="114300" y="177800"/>
                </a:moveTo>
                <a:cubicBezTo>
                  <a:pt x="128349" y="177800"/>
                  <a:pt x="139700" y="189151"/>
                  <a:pt x="139700" y="203200"/>
                </a:cubicBezTo>
                <a:lnTo>
                  <a:pt x="139700" y="254000"/>
                </a:lnTo>
                <a:cubicBezTo>
                  <a:pt x="139700" y="268049"/>
                  <a:pt x="128349" y="279400"/>
                  <a:pt x="114300" y="279400"/>
                </a:cubicBezTo>
                <a:cubicBezTo>
                  <a:pt x="100251" y="279400"/>
                  <a:pt x="88900" y="268049"/>
                  <a:pt x="88900" y="254000"/>
                </a:cubicBezTo>
                <a:lnTo>
                  <a:pt x="88900" y="203200"/>
                </a:lnTo>
                <a:cubicBezTo>
                  <a:pt x="88900" y="189151"/>
                  <a:pt x="100251" y="177800"/>
                  <a:pt x="114300" y="177800"/>
                </a:cubicBezTo>
                <a:close/>
                <a:moveTo>
                  <a:pt x="228600" y="127000"/>
                </a:moveTo>
                <a:lnTo>
                  <a:pt x="228600" y="254000"/>
                </a:lnTo>
                <a:cubicBezTo>
                  <a:pt x="228600" y="268049"/>
                  <a:pt x="217249" y="279400"/>
                  <a:pt x="203200" y="279400"/>
                </a:cubicBezTo>
                <a:cubicBezTo>
                  <a:pt x="189151" y="279400"/>
                  <a:pt x="177800" y="268049"/>
                  <a:pt x="177800" y="254000"/>
                </a:cubicBezTo>
                <a:lnTo>
                  <a:pt x="177800" y="127000"/>
                </a:lnTo>
                <a:cubicBezTo>
                  <a:pt x="177800" y="112951"/>
                  <a:pt x="189151" y="101600"/>
                  <a:pt x="203200" y="101600"/>
                </a:cubicBezTo>
                <a:cubicBezTo>
                  <a:pt x="217249" y="101600"/>
                  <a:pt x="228600" y="112951"/>
                  <a:pt x="228600" y="127000"/>
                </a:cubicBezTo>
                <a:close/>
                <a:moveTo>
                  <a:pt x="292100" y="152400"/>
                </a:moveTo>
                <a:cubicBezTo>
                  <a:pt x="306149" y="152400"/>
                  <a:pt x="317500" y="163751"/>
                  <a:pt x="317500" y="177800"/>
                </a:cubicBezTo>
                <a:lnTo>
                  <a:pt x="317500" y="254000"/>
                </a:lnTo>
                <a:cubicBezTo>
                  <a:pt x="317500" y="268049"/>
                  <a:pt x="306149" y="279400"/>
                  <a:pt x="292100" y="279400"/>
                </a:cubicBezTo>
                <a:cubicBezTo>
                  <a:pt x="278051" y="279400"/>
                  <a:pt x="266700" y="268049"/>
                  <a:pt x="266700" y="254000"/>
                </a:cubicBezTo>
                <a:lnTo>
                  <a:pt x="266700" y="177800"/>
                </a:lnTo>
                <a:cubicBezTo>
                  <a:pt x="266700" y="163751"/>
                  <a:pt x="278051" y="152400"/>
                  <a:pt x="292100" y="152400"/>
                </a:cubicBezTo>
                <a:close/>
                <a:moveTo>
                  <a:pt x="406400" y="76200"/>
                </a:moveTo>
                <a:lnTo>
                  <a:pt x="406400" y="254000"/>
                </a:lnTo>
                <a:cubicBezTo>
                  <a:pt x="406400" y="268049"/>
                  <a:pt x="395049" y="279400"/>
                  <a:pt x="381000" y="279400"/>
                </a:cubicBezTo>
                <a:cubicBezTo>
                  <a:pt x="366951" y="279400"/>
                  <a:pt x="355600" y="268049"/>
                  <a:pt x="355600" y="254000"/>
                </a:cubicBezTo>
                <a:lnTo>
                  <a:pt x="355600" y="76200"/>
                </a:lnTo>
                <a:cubicBezTo>
                  <a:pt x="355600" y="62151"/>
                  <a:pt x="366951" y="50800"/>
                  <a:pt x="381000" y="50800"/>
                </a:cubicBezTo>
                <a:cubicBezTo>
                  <a:pt x="395049" y="50800"/>
                  <a:pt x="406400" y="62151"/>
                  <a:pt x="406400" y="76200"/>
                </a:cubicBezTo>
                <a:close/>
              </a:path>
            </a:pathLst>
          </a:custGeom>
          <a:solidFill>
            <a:srgbClr val="1A3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3233400" y="3454400"/>
            <a:ext cx="198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QuickSight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3233400" y="3784600"/>
            <a:ext cx="19812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 Dashboards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14400" y="4826000"/>
            <a:ext cx="533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Three-Layer Transformation Inside Redshift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914400" y="5334000"/>
            <a:ext cx="4572000" cy="254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219200" y="5537200"/>
            <a:ext cx="396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Staging (stg_)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19200" y="5943600"/>
            <a:ext cx="3962400" cy="172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Clean raw DMS-loaded tables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Standardise data types and strings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Apply default values for nulls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842000" y="5334000"/>
            <a:ext cx="4572000" cy="254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6146800" y="5537200"/>
            <a:ext cx="396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Intermediate (int_)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146800" y="5943600"/>
            <a:ext cx="3962400" cy="172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Join multiple business entities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Create business-ready wide tables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Control grain before marts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10769600" y="5334000"/>
            <a:ext cx="4572000" cy="254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1074400" y="5537200"/>
            <a:ext cx="3962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Marts (facts + dims)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074400" y="5943600"/>
            <a:ext cx="3962400" cy="172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Star schema for BI queries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Facts store measurable events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Dimensions store context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/ Tool Selection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These Tools: Purpose-Built Selection for Each Layer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97000"/>
          <a:ext cx="14427200" cy="5334000"/>
        </p:xfrm>
        <a:graphic>
          <a:graphicData uri="http://schemas.openxmlformats.org/drawingml/2006/table">
            <a:tbl>
              <a:tblPr/>
              <a:tblGrid>
                <a:gridCol w="2596896"/>
                <a:gridCol w="3173984"/>
                <a:gridCol w="4328160"/>
                <a:gridCol w="432816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Layer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Tool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Role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F4F1EA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Key Strength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32"/>
                    </a:solidFill>
                  </a:tcPr>
                </a:tc>
              </a:tr>
              <a:tr h="938784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Source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D97706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◆</a:t>
                      </a:r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MariaDB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Transactional OLTP database storing normalised student data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Proven, fast, reliable relational engine for operational workloads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8784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Extract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7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D97706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◆</a:t>
                      </a:r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AWS DMS + CDC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7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Continuously replicate changes from MariaDB to Redshift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7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Minimal latency, supports ongoing replication without downtime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7E5"/>
                    </a:solidFill>
                  </a:tcPr>
                </a:tc>
              </a:tr>
              <a:tr h="938784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Store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D97706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◆</a:t>
                      </a:r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Redshift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Central cloud data warehouse — raw, staging, and marts layers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Scalable columnar storage, powerful SQL transformations at scale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38784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Transform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7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D97706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◆</a:t>
                      </a:r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DBT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7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SQL-based modelling, testing, documentation, version control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7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Enables analytics engineering best practices inside the warehouse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E7E5"/>
                    </a:solidFill>
                  </a:tcPr>
                </a:tc>
              </a:tr>
              <a:tr h="938784">
                <a:tc>
                  <a:txBody>
                    <a:bodyPr/>
                    <a:lstStyle/>
                    <a:p>
                      <a:pPr algn="ctr"/>
                      <a:r>
                        <a:rPr lang="en-US" sz="1500" b="1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Visualise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D97706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◆</a:t>
                      </a:r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 QuickSight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BI dashboards for student performance reporting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dirty="0">
                          <a:solidFill>
                            <a:srgbClr val="292524"/>
                          </a:solidFill>
                          <a:latin typeface="Quattrocento Sans" pitchFamily="34" charset="0"/>
                          <a:ea typeface="Quattrocento Sans" pitchFamily="34" charset="-122"/>
                          <a:cs typeface="Quattrocento Sans" pitchFamily="34" charset="-120"/>
                        </a:rPr>
                        <a:t>Native AWS integration, serverless, interactive visualisations</a:t>
                      </a:r>
                      <a:endParaRPr lang="en-US" sz="1500" dirty="0">
                        <a:latin typeface="Quattrocento Sans" charset="0"/>
                        <a:ea typeface="Quattrocento Sans" charset="0"/>
                        <a:cs typeface="Quattrocento Sans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7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7112000"/>
            <a:ext cx="14427200" cy="1016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6" name="Text 3"/>
          <p:cNvSpPr/>
          <p:nvPr/>
        </p:nvSpPr>
        <p:spPr>
          <a:xfrm>
            <a:off x="1219200" y="7264400"/>
            <a:ext cx="13817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ELT Advantage:</a:t>
            </a:r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Extract once, load raw, transform inside Redshift — enables flexibility, version control, and full testability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016000"/>
            <a:ext cx="14427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 Core Contribution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651000"/>
            <a:ext cx="1143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DBT transformation layer and star-schema data modelling inside Redshift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2540000"/>
            <a:ext cx="6985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8575" y="57150"/>
                </a:moveTo>
                <a:cubicBezTo>
                  <a:pt x="17056" y="57150"/>
                  <a:pt x="6608" y="64115"/>
                  <a:pt x="2143" y="74831"/>
                </a:cubicBezTo>
                <a:cubicBezTo>
                  <a:pt x="-2322" y="85546"/>
                  <a:pt x="179" y="97780"/>
                  <a:pt x="8394" y="105906"/>
                </a:cubicBezTo>
                <a:lnTo>
                  <a:pt x="171450" y="269051"/>
                </a:lnTo>
                <a:lnTo>
                  <a:pt x="171450" y="371475"/>
                </a:lnTo>
                <a:cubicBezTo>
                  <a:pt x="171450" y="379065"/>
                  <a:pt x="174486" y="386298"/>
                  <a:pt x="179844" y="391656"/>
                </a:cubicBezTo>
                <a:lnTo>
                  <a:pt x="236994" y="448806"/>
                </a:lnTo>
                <a:cubicBezTo>
                  <a:pt x="245209" y="457021"/>
                  <a:pt x="257443" y="459432"/>
                  <a:pt x="268159" y="454968"/>
                </a:cubicBezTo>
                <a:cubicBezTo>
                  <a:pt x="278874" y="450503"/>
                  <a:pt x="285750" y="440144"/>
                  <a:pt x="285750" y="428625"/>
                </a:cubicBezTo>
                <a:lnTo>
                  <a:pt x="285750" y="269051"/>
                </a:lnTo>
                <a:lnTo>
                  <a:pt x="448806" y="105995"/>
                </a:lnTo>
                <a:cubicBezTo>
                  <a:pt x="457021" y="97780"/>
                  <a:pt x="459432" y="85546"/>
                  <a:pt x="454968" y="74831"/>
                </a:cubicBezTo>
                <a:cubicBezTo>
                  <a:pt x="450503" y="64115"/>
                  <a:pt x="440144" y="57150"/>
                  <a:pt x="428625" y="57150"/>
                </a:cubicBezTo>
                <a:lnTo>
                  <a:pt x="28575" y="57150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3454400"/>
            <a:ext cx="6375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Transformation Layers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19200" y="3962400"/>
            <a:ext cx="6375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Staging: clean and standardise raw data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Intermediate: join entities, control grain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Marts: star schema for BI consumption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356600" y="2540000"/>
            <a:ext cx="6985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0" name="Shape 8"/>
          <p:cNvSpPr/>
          <p:nvPr/>
        </p:nvSpPr>
        <p:spPr>
          <a:xfrm>
            <a:off x="86614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45666" y="-16877"/>
                </a:moveTo>
                <a:cubicBezTo>
                  <a:pt x="242411" y="-24021"/>
                  <a:pt x="235823" y="-28575"/>
                  <a:pt x="228679" y="-28575"/>
                </a:cubicBezTo>
                <a:cubicBezTo>
                  <a:pt x="221536" y="-28575"/>
                  <a:pt x="214948" y="-24021"/>
                  <a:pt x="211693" y="-16877"/>
                </a:cubicBezTo>
                <a:lnTo>
                  <a:pt x="153273" y="111889"/>
                </a:lnTo>
                <a:lnTo>
                  <a:pt x="26353" y="134570"/>
                </a:lnTo>
                <a:cubicBezTo>
                  <a:pt x="19288" y="135821"/>
                  <a:pt x="13414" y="141446"/>
                  <a:pt x="11192" y="149126"/>
                </a:cubicBezTo>
                <a:cubicBezTo>
                  <a:pt x="8969" y="156805"/>
                  <a:pt x="10795" y="165199"/>
                  <a:pt x="15796" y="170914"/>
                </a:cubicBezTo>
                <a:lnTo>
                  <a:pt x="106601" y="273159"/>
                </a:lnTo>
                <a:lnTo>
                  <a:pt x="86598" y="415945"/>
                </a:lnTo>
                <a:cubicBezTo>
                  <a:pt x="85487" y="423892"/>
                  <a:pt x="88424" y="431929"/>
                  <a:pt x="94218" y="436662"/>
                </a:cubicBezTo>
                <a:cubicBezTo>
                  <a:pt x="100013" y="441394"/>
                  <a:pt x="107633" y="442109"/>
                  <a:pt x="114062" y="438448"/>
                </a:cubicBezTo>
                <a:lnTo>
                  <a:pt x="228679" y="372904"/>
                </a:lnTo>
                <a:lnTo>
                  <a:pt x="343218" y="438448"/>
                </a:lnTo>
                <a:cubicBezTo>
                  <a:pt x="349568" y="442109"/>
                  <a:pt x="357267" y="441394"/>
                  <a:pt x="363061" y="436662"/>
                </a:cubicBezTo>
                <a:cubicBezTo>
                  <a:pt x="368856" y="431929"/>
                  <a:pt x="371793" y="423982"/>
                  <a:pt x="370681" y="415945"/>
                </a:cubicBezTo>
                <a:lnTo>
                  <a:pt x="350599" y="273159"/>
                </a:lnTo>
                <a:lnTo>
                  <a:pt x="441404" y="170914"/>
                </a:lnTo>
                <a:cubicBezTo>
                  <a:pt x="446484" y="165199"/>
                  <a:pt x="448231" y="156805"/>
                  <a:pt x="446008" y="149126"/>
                </a:cubicBezTo>
                <a:cubicBezTo>
                  <a:pt x="443786" y="141446"/>
                  <a:pt x="437991" y="135821"/>
                  <a:pt x="430847" y="134570"/>
                </a:cubicBezTo>
                <a:lnTo>
                  <a:pt x="304006" y="111889"/>
                </a:lnTo>
                <a:lnTo>
                  <a:pt x="245666" y="-16877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8661400" y="3454400"/>
            <a:ext cx="6375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Star Schema Design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661400" y="3962400"/>
            <a:ext cx="6375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4 dimension tables for context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3 fact tables for measurable events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Optimised for fast BI queries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Contribution / Staging &amp; Intermediate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Staging &amp; Intermediate: Cleaning, Standardising, Joining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397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Staging Layer (stg_)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905000"/>
            <a:ext cx="6858000" cy="149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2057400"/>
            <a:ext cx="62484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type standardisation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casts to bigint, decimal, timestamp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String cleaning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trim, lower, null handling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454400"/>
            <a:ext cx="6858000" cy="127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3606800"/>
            <a:ext cx="62484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Default values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-99 for missing IDs, 0 for counts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String defaults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'n/a' for null text fields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4902200"/>
            <a:ext cx="6858000" cy="127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5054600"/>
            <a:ext cx="62484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Source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raw DMS-loaded tables from MariaDB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Output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clean, typed, validated staging models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128000" y="1397000"/>
            <a:ext cx="0" cy="5334000"/>
          </a:xfrm>
          <a:prstGeom prst="straightConnector1">
            <a:avLst/>
          </a:prstGeom>
          <a:noFill/>
          <a:ln w="12700">
            <a:solidFill>
              <a:srgbClr val="D9770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8534400" y="1397000"/>
            <a:ext cx="4445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Intermediate Layer (int_)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534400" y="1905000"/>
            <a:ext cx="6807200" cy="149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8839200" y="2057400"/>
            <a:ext cx="61976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Entity joins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students, classes, assessments, programmes, content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Creates business-ready wide tables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534400" y="3454400"/>
            <a:ext cx="6807200" cy="127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839200" y="3505200"/>
            <a:ext cx="6197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Example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student + assessment + class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Produces full performance view per student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34400" y="4902200"/>
            <a:ext cx="6807200" cy="1270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8839200" y="5054600"/>
            <a:ext cx="6197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Grain control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explicit grain definition before marts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Prevents duplication in downstream fact tables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" y="6604000"/>
            <a:ext cx="14427200" cy="1270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20" name="Text 18"/>
          <p:cNvSpPr/>
          <p:nvPr/>
        </p:nvSpPr>
        <p:spPr>
          <a:xfrm>
            <a:off x="1219200" y="6807200"/>
            <a:ext cx="138176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Each layer progressively increases </a:t>
            </a:r>
            <a:pPr algn="ctr">
              <a:lnSpc>
                <a:spcPct val="15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quality</a:t>
            </a:r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pPr algn="ctr">
              <a:lnSpc>
                <a:spcPct val="15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business readiness</a:t>
            </a:r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from raw ingestion to analytics-ready output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Contribution / Star Schema Marts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Star Schema Marts: Facts &amp; Dimensions for Fast BI Queries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397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Dimension Tables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17780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Descriptive context for analysis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2209800"/>
            <a:ext cx="3429000" cy="1651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7" name="Shape 5"/>
          <p:cNvSpPr/>
          <p:nvPr/>
        </p:nvSpPr>
        <p:spPr>
          <a:xfrm>
            <a:off x="1219200" y="2413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191532" y="-9029"/>
                </a:moveTo>
                <a:cubicBezTo>
                  <a:pt x="182483" y="-10626"/>
                  <a:pt x="173196" y="-10626"/>
                  <a:pt x="164148" y="-9029"/>
                </a:cubicBezTo>
                <a:lnTo>
                  <a:pt x="15319" y="17016"/>
                </a:lnTo>
                <a:cubicBezTo>
                  <a:pt x="6429" y="18544"/>
                  <a:pt x="0" y="25420"/>
                  <a:pt x="0" y="33337"/>
                </a:cubicBezTo>
                <a:cubicBezTo>
                  <a:pt x="0" y="40491"/>
                  <a:pt x="5159" y="46742"/>
                  <a:pt x="12700" y="49034"/>
                </a:cubicBezTo>
                <a:lnTo>
                  <a:pt x="12700" y="100013"/>
                </a:lnTo>
                <a:lnTo>
                  <a:pt x="238" y="154603"/>
                </a:lnTo>
                <a:cubicBezTo>
                  <a:pt x="79" y="155228"/>
                  <a:pt x="0" y="155922"/>
                  <a:pt x="0" y="156617"/>
                </a:cubicBezTo>
                <a:cubicBezTo>
                  <a:pt x="0" y="162173"/>
                  <a:pt x="5159" y="166757"/>
                  <a:pt x="11589" y="166757"/>
                </a:cubicBezTo>
                <a:lnTo>
                  <a:pt x="39291" y="166757"/>
                </a:lnTo>
                <a:cubicBezTo>
                  <a:pt x="45641" y="166757"/>
                  <a:pt x="50879" y="162243"/>
                  <a:pt x="50879" y="156617"/>
                </a:cubicBezTo>
                <a:cubicBezTo>
                  <a:pt x="50879" y="155922"/>
                  <a:pt x="50800" y="155297"/>
                  <a:pt x="50641" y="154603"/>
                </a:cubicBezTo>
                <a:lnTo>
                  <a:pt x="38100" y="100013"/>
                </a:lnTo>
                <a:lnTo>
                  <a:pt x="38100" y="53687"/>
                </a:lnTo>
                <a:lnTo>
                  <a:pt x="76200" y="60355"/>
                </a:lnTo>
                <a:lnTo>
                  <a:pt x="76200" y="100013"/>
                </a:lnTo>
                <a:cubicBezTo>
                  <a:pt x="76200" y="149116"/>
                  <a:pt x="121682" y="188913"/>
                  <a:pt x="177800" y="188913"/>
                </a:cubicBezTo>
                <a:cubicBezTo>
                  <a:pt x="233918" y="188913"/>
                  <a:pt x="279400" y="149116"/>
                  <a:pt x="279400" y="100013"/>
                </a:cubicBezTo>
                <a:lnTo>
                  <a:pt x="279400" y="60355"/>
                </a:lnTo>
                <a:lnTo>
                  <a:pt x="340281" y="49728"/>
                </a:lnTo>
                <a:cubicBezTo>
                  <a:pt x="349171" y="48131"/>
                  <a:pt x="355600" y="41255"/>
                  <a:pt x="355600" y="33337"/>
                </a:cubicBezTo>
                <a:cubicBezTo>
                  <a:pt x="355600" y="25420"/>
                  <a:pt x="349171" y="18544"/>
                  <a:pt x="340281" y="17016"/>
                </a:cubicBezTo>
                <a:lnTo>
                  <a:pt x="191532" y="-9029"/>
                </a:lnTo>
                <a:close/>
                <a:moveTo>
                  <a:pt x="177800" y="155575"/>
                </a:moveTo>
                <a:cubicBezTo>
                  <a:pt x="142716" y="155575"/>
                  <a:pt x="114300" y="130711"/>
                  <a:pt x="114300" y="100013"/>
                </a:cubicBezTo>
                <a:lnTo>
                  <a:pt x="241300" y="100013"/>
                </a:lnTo>
                <a:cubicBezTo>
                  <a:pt x="241300" y="130711"/>
                  <a:pt x="212884" y="155575"/>
                  <a:pt x="177800" y="155575"/>
                </a:cubicBezTo>
                <a:close/>
                <a:moveTo>
                  <a:pt x="95329" y="222319"/>
                </a:moveTo>
                <a:cubicBezTo>
                  <a:pt x="46593" y="241905"/>
                  <a:pt x="12700" y="284966"/>
                  <a:pt x="12700" y="334972"/>
                </a:cubicBezTo>
                <a:cubicBezTo>
                  <a:pt x="12700" y="346363"/>
                  <a:pt x="23257" y="355600"/>
                  <a:pt x="36274" y="355600"/>
                </a:cubicBezTo>
                <a:lnTo>
                  <a:pt x="158750" y="355600"/>
                </a:lnTo>
                <a:lnTo>
                  <a:pt x="158750" y="254198"/>
                </a:lnTo>
                <a:lnTo>
                  <a:pt x="113189" y="224334"/>
                </a:lnTo>
                <a:cubicBezTo>
                  <a:pt x="108029" y="220930"/>
                  <a:pt x="101124" y="220028"/>
                  <a:pt x="95250" y="222389"/>
                </a:cubicBezTo>
                <a:close/>
                <a:moveTo>
                  <a:pt x="196850" y="355600"/>
                </a:moveTo>
                <a:lnTo>
                  <a:pt x="319326" y="355600"/>
                </a:lnTo>
                <a:cubicBezTo>
                  <a:pt x="332343" y="355600"/>
                  <a:pt x="342900" y="346363"/>
                  <a:pt x="342900" y="334972"/>
                </a:cubicBezTo>
                <a:cubicBezTo>
                  <a:pt x="342900" y="284966"/>
                  <a:pt x="309007" y="241905"/>
                  <a:pt x="260271" y="222389"/>
                </a:cubicBezTo>
                <a:cubicBezTo>
                  <a:pt x="254397" y="220028"/>
                  <a:pt x="247491" y="220930"/>
                  <a:pt x="242332" y="224334"/>
                </a:cubicBezTo>
                <a:lnTo>
                  <a:pt x="196771" y="254198"/>
                </a:lnTo>
                <a:lnTo>
                  <a:pt x="196771" y="355600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8" name="Text 6"/>
          <p:cNvSpPr/>
          <p:nvPr/>
        </p:nvSpPr>
        <p:spPr>
          <a:xfrm>
            <a:off x="1676400" y="2413000"/>
            <a:ext cx="241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dim_students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19200" y="2844800"/>
            <a:ext cx="2870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 demographics, enrolment status, programme affiliation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97400" y="2209800"/>
            <a:ext cx="3429000" cy="1651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1" name="Shape 9"/>
          <p:cNvSpPr/>
          <p:nvPr/>
        </p:nvSpPr>
        <p:spPr>
          <a:xfrm>
            <a:off x="4902200" y="2413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0" y="133350"/>
                </a:moveTo>
                <a:cubicBezTo>
                  <a:pt x="0" y="108833"/>
                  <a:pt x="17718" y="88900"/>
                  <a:pt x="39511" y="88900"/>
                </a:cubicBezTo>
                <a:lnTo>
                  <a:pt x="79022" y="88900"/>
                </a:lnTo>
                <a:lnTo>
                  <a:pt x="157983" y="8959"/>
                </a:lnTo>
                <a:cubicBezTo>
                  <a:pt x="169280" y="-2431"/>
                  <a:pt x="186381" y="-2431"/>
                  <a:pt x="197617" y="8959"/>
                </a:cubicBezTo>
                <a:lnTo>
                  <a:pt x="276578" y="88900"/>
                </a:lnTo>
                <a:lnTo>
                  <a:pt x="316089" y="88900"/>
                </a:lnTo>
                <a:cubicBezTo>
                  <a:pt x="337882" y="88900"/>
                  <a:pt x="355600" y="108833"/>
                  <a:pt x="355600" y="133350"/>
                </a:cubicBezTo>
                <a:lnTo>
                  <a:pt x="355600" y="311150"/>
                </a:lnTo>
                <a:cubicBezTo>
                  <a:pt x="355600" y="335667"/>
                  <a:pt x="337882" y="355600"/>
                  <a:pt x="316089" y="355600"/>
                </a:cubicBezTo>
                <a:lnTo>
                  <a:pt x="39511" y="355600"/>
                </a:lnTo>
                <a:cubicBezTo>
                  <a:pt x="17718" y="355600"/>
                  <a:pt x="0" y="335667"/>
                  <a:pt x="0" y="311150"/>
                </a:cubicBezTo>
                <a:lnTo>
                  <a:pt x="0" y="133350"/>
                </a:lnTo>
                <a:close/>
                <a:moveTo>
                  <a:pt x="138289" y="261144"/>
                </a:moveTo>
                <a:lnTo>
                  <a:pt x="138289" y="322263"/>
                </a:lnTo>
                <a:lnTo>
                  <a:pt x="217311" y="322263"/>
                </a:lnTo>
                <a:lnTo>
                  <a:pt x="217311" y="261144"/>
                </a:lnTo>
                <a:cubicBezTo>
                  <a:pt x="217311" y="245795"/>
                  <a:pt x="206260" y="233363"/>
                  <a:pt x="192617" y="233363"/>
                </a:cubicBezTo>
                <a:lnTo>
                  <a:pt x="162983" y="233363"/>
                </a:lnTo>
                <a:cubicBezTo>
                  <a:pt x="149340" y="233363"/>
                  <a:pt x="138289" y="245795"/>
                  <a:pt x="138289" y="261144"/>
                </a:cubicBezTo>
                <a:close/>
                <a:moveTo>
                  <a:pt x="69144" y="266700"/>
                </a:moveTo>
                <a:cubicBezTo>
                  <a:pt x="74577" y="266700"/>
                  <a:pt x="79022" y="261699"/>
                  <a:pt x="79022" y="255587"/>
                </a:cubicBezTo>
                <a:lnTo>
                  <a:pt x="79022" y="233363"/>
                </a:lnTo>
                <a:cubicBezTo>
                  <a:pt x="79022" y="227251"/>
                  <a:pt x="74577" y="222250"/>
                  <a:pt x="69144" y="222250"/>
                </a:cubicBezTo>
                <a:lnTo>
                  <a:pt x="49389" y="222250"/>
                </a:lnTo>
                <a:cubicBezTo>
                  <a:pt x="43956" y="222250"/>
                  <a:pt x="39511" y="227251"/>
                  <a:pt x="39511" y="233363"/>
                </a:cubicBezTo>
                <a:lnTo>
                  <a:pt x="39511" y="255587"/>
                </a:lnTo>
                <a:cubicBezTo>
                  <a:pt x="39511" y="261699"/>
                  <a:pt x="43956" y="266700"/>
                  <a:pt x="49389" y="266700"/>
                </a:cubicBezTo>
                <a:lnTo>
                  <a:pt x="69144" y="266700"/>
                </a:lnTo>
                <a:close/>
                <a:moveTo>
                  <a:pt x="79022" y="166688"/>
                </a:moveTo>
                <a:lnTo>
                  <a:pt x="79022" y="144463"/>
                </a:lnTo>
                <a:cubicBezTo>
                  <a:pt x="79022" y="138351"/>
                  <a:pt x="74577" y="133350"/>
                  <a:pt x="69144" y="133350"/>
                </a:cubicBezTo>
                <a:lnTo>
                  <a:pt x="49389" y="133350"/>
                </a:lnTo>
                <a:cubicBezTo>
                  <a:pt x="43956" y="133350"/>
                  <a:pt x="39511" y="138351"/>
                  <a:pt x="39511" y="144463"/>
                </a:cubicBezTo>
                <a:lnTo>
                  <a:pt x="39511" y="166688"/>
                </a:lnTo>
                <a:cubicBezTo>
                  <a:pt x="39511" y="172799"/>
                  <a:pt x="43956" y="177800"/>
                  <a:pt x="49389" y="177800"/>
                </a:cubicBezTo>
                <a:lnTo>
                  <a:pt x="69144" y="177800"/>
                </a:lnTo>
                <a:cubicBezTo>
                  <a:pt x="74577" y="177800"/>
                  <a:pt x="79022" y="172799"/>
                  <a:pt x="79022" y="166688"/>
                </a:cubicBezTo>
                <a:close/>
                <a:moveTo>
                  <a:pt x="306211" y="266700"/>
                </a:moveTo>
                <a:cubicBezTo>
                  <a:pt x="311644" y="266700"/>
                  <a:pt x="316089" y="261699"/>
                  <a:pt x="316089" y="255587"/>
                </a:cubicBezTo>
                <a:lnTo>
                  <a:pt x="316089" y="233363"/>
                </a:lnTo>
                <a:cubicBezTo>
                  <a:pt x="316089" y="227251"/>
                  <a:pt x="311644" y="222250"/>
                  <a:pt x="306211" y="222250"/>
                </a:cubicBezTo>
                <a:lnTo>
                  <a:pt x="286456" y="222250"/>
                </a:lnTo>
                <a:cubicBezTo>
                  <a:pt x="281023" y="222250"/>
                  <a:pt x="276578" y="227251"/>
                  <a:pt x="276578" y="233363"/>
                </a:cubicBezTo>
                <a:lnTo>
                  <a:pt x="276578" y="255587"/>
                </a:lnTo>
                <a:cubicBezTo>
                  <a:pt x="276578" y="261699"/>
                  <a:pt x="281023" y="266700"/>
                  <a:pt x="286456" y="266700"/>
                </a:cubicBezTo>
                <a:lnTo>
                  <a:pt x="306211" y="266700"/>
                </a:lnTo>
                <a:close/>
                <a:moveTo>
                  <a:pt x="316089" y="166688"/>
                </a:moveTo>
                <a:lnTo>
                  <a:pt x="316089" y="144463"/>
                </a:lnTo>
                <a:cubicBezTo>
                  <a:pt x="316089" y="138351"/>
                  <a:pt x="311644" y="133350"/>
                  <a:pt x="306211" y="133350"/>
                </a:cubicBezTo>
                <a:lnTo>
                  <a:pt x="286456" y="133350"/>
                </a:lnTo>
                <a:cubicBezTo>
                  <a:pt x="281023" y="133350"/>
                  <a:pt x="276578" y="138351"/>
                  <a:pt x="276578" y="144463"/>
                </a:cubicBezTo>
                <a:lnTo>
                  <a:pt x="276578" y="166688"/>
                </a:lnTo>
                <a:cubicBezTo>
                  <a:pt x="276578" y="172799"/>
                  <a:pt x="281023" y="177800"/>
                  <a:pt x="286456" y="177800"/>
                </a:cubicBezTo>
                <a:lnTo>
                  <a:pt x="306211" y="177800"/>
                </a:lnTo>
                <a:cubicBezTo>
                  <a:pt x="311644" y="177800"/>
                  <a:pt x="316089" y="172799"/>
                  <a:pt x="316089" y="166688"/>
                </a:cubicBezTo>
                <a:close/>
                <a:moveTo>
                  <a:pt x="177800" y="177800"/>
                </a:moveTo>
                <a:cubicBezTo>
                  <a:pt x="199607" y="177800"/>
                  <a:pt x="217311" y="157883"/>
                  <a:pt x="217311" y="133350"/>
                </a:cubicBezTo>
                <a:cubicBezTo>
                  <a:pt x="217311" y="108817"/>
                  <a:pt x="199607" y="88900"/>
                  <a:pt x="177800" y="88900"/>
                </a:cubicBezTo>
                <a:cubicBezTo>
                  <a:pt x="155993" y="88900"/>
                  <a:pt x="138289" y="108817"/>
                  <a:pt x="138289" y="133350"/>
                </a:cubicBezTo>
                <a:cubicBezTo>
                  <a:pt x="138289" y="157883"/>
                  <a:pt x="155993" y="177800"/>
                  <a:pt x="177800" y="177800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5359400" y="2413000"/>
            <a:ext cx="241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dim_classes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02200" y="2844800"/>
            <a:ext cx="2870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Course metadata, subject areas, instructor assignments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80400" y="2209800"/>
            <a:ext cx="3429000" cy="1651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5" name="Shape 13"/>
          <p:cNvSpPr/>
          <p:nvPr/>
        </p:nvSpPr>
        <p:spPr>
          <a:xfrm>
            <a:off x="8585200" y="2413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04800" y="355600"/>
                </a:moveTo>
                <a:lnTo>
                  <a:pt x="76200" y="355600"/>
                </a:lnTo>
                <a:cubicBezTo>
                  <a:pt x="34131" y="355600"/>
                  <a:pt x="0" y="325735"/>
                  <a:pt x="0" y="288925"/>
                </a:cubicBezTo>
                <a:lnTo>
                  <a:pt x="0" y="66675"/>
                </a:lnTo>
                <a:cubicBezTo>
                  <a:pt x="0" y="29865"/>
                  <a:pt x="34131" y="0"/>
                  <a:pt x="76200" y="0"/>
                </a:cubicBezTo>
                <a:lnTo>
                  <a:pt x="317500" y="0"/>
                </a:lnTo>
                <a:cubicBezTo>
                  <a:pt x="338534" y="0"/>
                  <a:pt x="355600" y="14932"/>
                  <a:pt x="355600" y="33337"/>
                </a:cubicBezTo>
                <a:lnTo>
                  <a:pt x="355600" y="233363"/>
                </a:lnTo>
                <a:cubicBezTo>
                  <a:pt x="355600" y="247878"/>
                  <a:pt x="344964" y="260241"/>
                  <a:pt x="330200" y="264825"/>
                </a:cubicBezTo>
                <a:lnTo>
                  <a:pt x="330200" y="311150"/>
                </a:lnTo>
                <a:cubicBezTo>
                  <a:pt x="344249" y="311150"/>
                  <a:pt x="355600" y="321082"/>
                  <a:pt x="355600" y="333375"/>
                </a:cubicBezTo>
                <a:cubicBezTo>
                  <a:pt x="355600" y="345668"/>
                  <a:pt x="344249" y="355600"/>
                  <a:pt x="330200" y="355600"/>
                </a:cubicBezTo>
                <a:lnTo>
                  <a:pt x="304800" y="355600"/>
                </a:lnTo>
                <a:close/>
                <a:moveTo>
                  <a:pt x="76200" y="266700"/>
                </a:moveTo>
                <a:cubicBezTo>
                  <a:pt x="62151" y="266700"/>
                  <a:pt x="50800" y="276632"/>
                  <a:pt x="50800" y="288925"/>
                </a:cubicBezTo>
                <a:cubicBezTo>
                  <a:pt x="50800" y="301218"/>
                  <a:pt x="62151" y="311150"/>
                  <a:pt x="76200" y="311150"/>
                </a:cubicBezTo>
                <a:lnTo>
                  <a:pt x="279400" y="311150"/>
                </a:lnTo>
                <a:lnTo>
                  <a:pt x="279400" y="266700"/>
                </a:lnTo>
                <a:lnTo>
                  <a:pt x="76200" y="266700"/>
                </a:lnTo>
                <a:close/>
                <a:moveTo>
                  <a:pt x="101600" y="105569"/>
                </a:moveTo>
                <a:cubicBezTo>
                  <a:pt x="101600" y="114806"/>
                  <a:pt x="110093" y="122238"/>
                  <a:pt x="120650" y="122238"/>
                </a:cubicBezTo>
                <a:lnTo>
                  <a:pt x="260350" y="122238"/>
                </a:lnTo>
                <a:cubicBezTo>
                  <a:pt x="270907" y="122238"/>
                  <a:pt x="279400" y="114806"/>
                  <a:pt x="279400" y="105569"/>
                </a:cubicBezTo>
                <a:cubicBezTo>
                  <a:pt x="279400" y="96331"/>
                  <a:pt x="270907" y="88900"/>
                  <a:pt x="260350" y="88900"/>
                </a:cubicBezTo>
                <a:lnTo>
                  <a:pt x="120650" y="88900"/>
                </a:lnTo>
                <a:cubicBezTo>
                  <a:pt x="110093" y="88900"/>
                  <a:pt x="101600" y="96331"/>
                  <a:pt x="101600" y="105569"/>
                </a:cubicBezTo>
                <a:close/>
                <a:moveTo>
                  <a:pt x="120650" y="155575"/>
                </a:moveTo>
                <a:cubicBezTo>
                  <a:pt x="110093" y="155575"/>
                  <a:pt x="101600" y="163006"/>
                  <a:pt x="101600" y="172244"/>
                </a:cubicBezTo>
                <a:cubicBezTo>
                  <a:pt x="101600" y="181481"/>
                  <a:pt x="110093" y="188913"/>
                  <a:pt x="120650" y="188913"/>
                </a:cubicBezTo>
                <a:lnTo>
                  <a:pt x="260350" y="188913"/>
                </a:lnTo>
                <a:cubicBezTo>
                  <a:pt x="270907" y="188913"/>
                  <a:pt x="279400" y="181481"/>
                  <a:pt x="279400" y="172244"/>
                </a:cubicBezTo>
                <a:cubicBezTo>
                  <a:pt x="279400" y="163006"/>
                  <a:pt x="270907" y="155575"/>
                  <a:pt x="260350" y="155575"/>
                </a:cubicBezTo>
                <a:lnTo>
                  <a:pt x="120650" y="155575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9042400" y="2413000"/>
            <a:ext cx="241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dim_programmes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585200" y="2844800"/>
            <a:ext cx="2870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Programme structure, levels, duration, requirements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963400" y="2209800"/>
            <a:ext cx="3378200" cy="1651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9" name="Shape 17"/>
          <p:cNvSpPr/>
          <p:nvPr/>
        </p:nvSpPr>
        <p:spPr>
          <a:xfrm>
            <a:off x="12268200" y="24130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4572" y="156686"/>
                </a:moveTo>
                <a:lnTo>
                  <a:pt x="20003" y="205720"/>
                </a:lnTo>
                <a:lnTo>
                  <a:pt x="20003" y="66675"/>
                </a:lnTo>
                <a:cubicBezTo>
                  <a:pt x="20003" y="42158"/>
                  <a:pt x="37721" y="22225"/>
                  <a:pt x="59514" y="22225"/>
                </a:cubicBezTo>
                <a:lnTo>
                  <a:pt x="145142" y="22225"/>
                </a:lnTo>
                <a:cubicBezTo>
                  <a:pt x="153661" y="22225"/>
                  <a:pt x="161996" y="25350"/>
                  <a:pt x="168848" y="31115"/>
                </a:cubicBezTo>
                <a:lnTo>
                  <a:pt x="192555" y="51117"/>
                </a:lnTo>
                <a:cubicBezTo>
                  <a:pt x="195950" y="54035"/>
                  <a:pt x="200148" y="55563"/>
                  <a:pt x="204408" y="55563"/>
                </a:cubicBezTo>
                <a:lnTo>
                  <a:pt x="276825" y="55563"/>
                </a:lnTo>
                <a:cubicBezTo>
                  <a:pt x="298618" y="55563"/>
                  <a:pt x="316336" y="75496"/>
                  <a:pt x="316336" y="100013"/>
                </a:cubicBezTo>
                <a:lnTo>
                  <a:pt x="316336" y="111125"/>
                </a:lnTo>
                <a:lnTo>
                  <a:pt x="90752" y="111125"/>
                </a:lnTo>
                <a:cubicBezTo>
                  <a:pt x="65255" y="111125"/>
                  <a:pt x="42598" y="129461"/>
                  <a:pt x="34510" y="156686"/>
                </a:cubicBezTo>
                <a:close/>
                <a:moveTo>
                  <a:pt x="294975" y="311150"/>
                </a:moveTo>
                <a:lnTo>
                  <a:pt x="61119" y="311150"/>
                </a:lnTo>
                <a:cubicBezTo>
                  <a:pt x="40869" y="311150"/>
                  <a:pt x="26608" y="288856"/>
                  <a:pt x="33029" y="267256"/>
                </a:cubicBezTo>
                <a:lnTo>
                  <a:pt x="62662" y="167243"/>
                </a:lnTo>
                <a:cubicBezTo>
                  <a:pt x="66675" y="153630"/>
                  <a:pt x="78034" y="144463"/>
                  <a:pt x="90752" y="144463"/>
                </a:cubicBezTo>
                <a:lnTo>
                  <a:pt x="324608" y="144463"/>
                </a:lnTo>
                <a:cubicBezTo>
                  <a:pt x="344858" y="144463"/>
                  <a:pt x="359119" y="166757"/>
                  <a:pt x="352698" y="188357"/>
                </a:cubicBezTo>
                <a:lnTo>
                  <a:pt x="323065" y="288369"/>
                </a:lnTo>
                <a:cubicBezTo>
                  <a:pt x="319052" y="301982"/>
                  <a:pt x="307693" y="311150"/>
                  <a:pt x="294975" y="311150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12725400" y="2413000"/>
            <a:ext cx="241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dim_content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268200" y="2844800"/>
            <a:ext cx="2819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Learning materials, class structures, content types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" y="42418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Fact Tables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4400" y="46228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4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Measurable events and performance metrics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14400" y="5054600"/>
            <a:ext cx="4699000" cy="2032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1219200" y="5257800"/>
            <a:ext cx="4089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fact_student_assessments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19200" y="5664200"/>
            <a:ext cx="4089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Scores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Attempts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Submission timestamps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867400" y="5054600"/>
            <a:ext cx="4699000" cy="2032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172200" y="5257800"/>
            <a:ext cx="40894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fact_student_activity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172200" y="5664200"/>
            <a:ext cx="40894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Durations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Completion status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Engagement metrics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820400" y="5054600"/>
            <a:ext cx="4521200" cy="2032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11125200" y="5257800"/>
            <a:ext cx="39116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fact_performance_metrics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125200" y="5664200"/>
            <a:ext cx="39116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Aggregated scores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Progress indicators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Ranking metrics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14400" y="7493000"/>
            <a:ext cx="14427200" cy="762000"/>
          </a:xfrm>
          <a:prstGeom prst="rect">
            <a:avLst/>
          </a:prstGeom>
          <a:solidFill>
            <a:srgbClr val="E1E7E5"/>
          </a:solidFill>
          <a:ln/>
        </p:spPr>
      </p:sp>
      <p:sp>
        <p:nvSpPr>
          <p:cNvPr id="34" name="Text 32"/>
          <p:cNvSpPr/>
          <p:nvPr/>
        </p:nvSpPr>
        <p:spPr>
          <a:xfrm>
            <a:off x="1219200" y="7620000"/>
            <a:ext cx="138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Star schema enables fast, predictable BI queries</a:t>
            </a:r>
            <a:pPr algn="ctr">
              <a:lnSpc>
                <a:spcPct val="120000"/>
              </a:lnSpc>
            </a:pPr>
            <a:r>
              <a:rPr lang="en-US" sz="1800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— dimensions provide context, facts provide measurability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3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Scale &amp;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016000"/>
            <a:ext cx="14427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 Scale &amp; Metrics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651000"/>
            <a:ext cx="1143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Pipeline handling multiple interconnected tables with near real-time CDC ingestion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3048000"/>
            <a:ext cx="39624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5+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219200" y="39370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Entity Types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9200" y="44450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Students, classes, assessments, programmes, and content tables ingested from MariaDB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420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0" name="Text 8"/>
          <p:cNvSpPr/>
          <p:nvPr/>
        </p:nvSpPr>
        <p:spPr>
          <a:xfrm>
            <a:off x="6146800" y="3048000"/>
            <a:ext cx="39624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CDC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146800" y="39370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Near Real-Time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46800" y="44450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Continuous replication ensures data is always fresh without expensive full reloads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7696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074400" y="3048000"/>
            <a:ext cx="39624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4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3x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11074400" y="39370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Transformation Layers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074400" y="44450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Staging, intermediate, and marts layers progressively refine data quality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3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Scale &amp; Metrics / Pipeline Complexity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8128000" cy="9144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762000"/>
            <a:ext cx="660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Pipeline Scale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1524000"/>
            <a:ext cx="6604000" cy="711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 Entities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660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Students, Classes, Assessments, Programmes, Content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175000"/>
            <a:ext cx="6604000" cy="711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 Layers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914400" y="3937000"/>
            <a:ext cx="660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Staging, Intermediate, Marts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4826000"/>
            <a:ext cx="6604000" cy="711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7 Models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5588000"/>
            <a:ext cx="660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6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4 Dimensions + 3 Fact Tables in Star Schema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34400" y="762000"/>
            <a:ext cx="6604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Complexity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534400" y="1397000"/>
            <a:ext cx="6807200" cy="1905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839200" y="1549400"/>
            <a:ext cx="61976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Many-to-Many Relationships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839200" y="1930400"/>
            <a:ext cx="61976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Students enrol in multiple classes. Classes contain multiple assessments. Assessments map to various content. Careful join design required to avoid Cartesian products.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534400" y="3556000"/>
            <a:ext cx="6807200" cy="1905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839200" y="3708400"/>
            <a:ext cx="61976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Incremental Refresh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839200" y="4089400"/>
            <a:ext cx="619760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CDC captures only changed rows. DBT incremental models process deltas. Full reloads avoided entirely — pipeline scales with data volume, not table size.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534400" y="5715000"/>
            <a:ext cx="6807200" cy="1651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839200" y="5867400"/>
            <a:ext cx="61976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Volume Coverage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839200" y="6299200"/>
            <a:ext cx="6197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Student records, assessment submissions, activity logs, class and programme mappings — all continuously synced and transformed.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Challenges &amp; Failures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016000"/>
            <a:ext cx="14427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05 Key Challenges &amp; Failures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651000"/>
            <a:ext cx="1143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Three critical challenges overcome through systematic debugging and process improvement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8847" y="204043"/>
                </a:moveTo>
                <a:cubicBezTo>
                  <a:pt x="70723" y="120997"/>
                  <a:pt x="142250" y="57150"/>
                  <a:pt x="228600" y="57150"/>
                </a:cubicBezTo>
                <a:cubicBezTo>
                  <a:pt x="275927" y="57150"/>
                  <a:pt x="318790" y="76349"/>
                  <a:pt x="349865" y="107335"/>
                </a:cubicBezTo>
                <a:cubicBezTo>
                  <a:pt x="350044" y="107513"/>
                  <a:pt x="350222" y="107692"/>
                  <a:pt x="350401" y="107871"/>
                </a:cubicBezTo>
                <a:lnTo>
                  <a:pt x="357188" y="114300"/>
                </a:lnTo>
                <a:lnTo>
                  <a:pt x="314414" y="114300"/>
                </a:lnTo>
                <a:cubicBezTo>
                  <a:pt x="298609" y="114300"/>
                  <a:pt x="285839" y="127069"/>
                  <a:pt x="285839" y="142875"/>
                </a:cubicBezTo>
                <a:cubicBezTo>
                  <a:pt x="285839" y="158681"/>
                  <a:pt x="298609" y="171450"/>
                  <a:pt x="314414" y="171450"/>
                </a:cubicBezTo>
                <a:lnTo>
                  <a:pt x="428714" y="171450"/>
                </a:lnTo>
                <a:cubicBezTo>
                  <a:pt x="444520" y="171450"/>
                  <a:pt x="457289" y="158681"/>
                  <a:pt x="457289" y="142875"/>
                </a:cubicBezTo>
                <a:lnTo>
                  <a:pt x="457289" y="28575"/>
                </a:lnTo>
                <a:cubicBezTo>
                  <a:pt x="457289" y="12769"/>
                  <a:pt x="444520" y="0"/>
                  <a:pt x="428714" y="0"/>
                </a:cubicBezTo>
                <a:cubicBezTo>
                  <a:pt x="412909" y="0"/>
                  <a:pt x="400139" y="12769"/>
                  <a:pt x="400139" y="28575"/>
                </a:cubicBezTo>
                <a:lnTo>
                  <a:pt x="400139" y="76260"/>
                </a:lnTo>
                <a:lnTo>
                  <a:pt x="390049" y="66705"/>
                </a:lnTo>
                <a:cubicBezTo>
                  <a:pt x="348704" y="25539"/>
                  <a:pt x="291554" y="0"/>
                  <a:pt x="228600" y="0"/>
                </a:cubicBezTo>
                <a:cubicBezTo>
                  <a:pt x="113407" y="0"/>
                  <a:pt x="18127" y="85189"/>
                  <a:pt x="2322" y="196007"/>
                </a:cubicBezTo>
                <a:cubicBezTo>
                  <a:pt x="89" y="211634"/>
                  <a:pt x="10894" y="226100"/>
                  <a:pt x="26521" y="228332"/>
                </a:cubicBezTo>
                <a:cubicBezTo>
                  <a:pt x="42148" y="230565"/>
                  <a:pt x="56614" y="219670"/>
                  <a:pt x="58847" y="204133"/>
                </a:cubicBezTo>
                <a:close/>
                <a:moveTo>
                  <a:pt x="454878" y="261193"/>
                </a:moveTo>
                <a:cubicBezTo>
                  <a:pt x="457111" y="245566"/>
                  <a:pt x="446216" y="231100"/>
                  <a:pt x="430679" y="228868"/>
                </a:cubicBezTo>
                <a:cubicBezTo>
                  <a:pt x="415141" y="226635"/>
                  <a:pt x="400586" y="237530"/>
                  <a:pt x="398353" y="253067"/>
                </a:cubicBezTo>
                <a:cubicBezTo>
                  <a:pt x="386477" y="336113"/>
                  <a:pt x="314950" y="399961"/>
                  <a:pt x="228600" y="399961"/>
                </a:cubicBezTo>
                <a:cubicBezTo>
                  <a:pt x="181273" y="399961"/>
                  <a:pt x="138410" y="380762"/>
                  <a:pt x="107335" y="349776"/>
                </a:cubicBezTo>
                <a:cubicBezTo>
                  <a:pt x="107156" y="349597"/>
                  <a:pt x="106978" y="349419"/>
                  <a:pt x="106799" y="349240"/>
                </a:cubicBezTo>
                <a:lnTo>
                  <a:pt x="100012" y="342811"/>
                </a:lnTo>
                <a:lnTo>
                  <a:pt x="142786" y="342811"/>
                </a:lnTo>
                <a:cubicBezTo>
                  <a:pt x="158591" y="342811"/>
                  <a:pt x="171361" y="330041"/>
                  <a:pt x="171361" y="314236"/>
                </a:cubicBezTo>
                <a:cubicBezTo>
                  <a:pt x="171361" y="298430"/>
                  <a:pt x="158591" y="285661"/>
                  <a:pt x="142786" y="285661"/>
                </a:cubicBezTo>
                <a:lnTo>
                  <a:pt x="28575" y="285750"/>
                </a:lnTo>
                <a:cubicBezTo>
                  <a:pt x="20985" y="285750"/>
                  <a:pt x="13662" y="288786"/>
                  <a:pt x="8305" y="294233"/>
                </a:cubicBezTo>
                <a:cubicBezTo>
                  <a:pt x="2947" y="299680"/>
                  <a:pt x="-89" y="306913"/>
                  <a:pt x="0" y="314593"/>
                </a:cubicBezTo>
                <a:lnTo>
                  <a:pt x="893" y="428000"/>
                </a:lnTo>
                <a:cubicBezTo>
                  <a:pt x="982" y="443805"/>
                  <a:pt x="13930" y="456486"/>
                  <a:pt x="29736" y="456307"/>
                </a:cubicBezTo>
                <a:cubicBezTo>
                  <a:pt x="45541" y="456128"/>
                  <a:pt x="58222" y="443270"/>
                  <a:pt x="58043" y="427464"/>
                </a:cubicBezTo>
                <a:lnTo>
                  <a:pt x="57686" y="381476"/>
                </a:lnTo>
                <a:lnTo>
                  <a:pt x="67241" y="390495"/>
                </a:lnTo>
                <a:cubicBezTo>
                  <a:pt x="108585" y="431661"/>
                  <a:pt x="165646" y="457200"/>
                  <a:pt x="228600" y="457200"/>
                </a:cubicBezTo>
                <a:cubicBezTo>
                  <a:pt x="343793" y="457200"/>
                  <a:pt x="439073" y="372011"/>
                  <a:pt x="454878" y="261193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CDC Inconsistencies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9200" y="3962400"/>
            <a:ext cx="3962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Some updates and deletes were not immediately reflected in Redshift, causing stale data in downstream models.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420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0" name="Shape 8"/>
          <p:cNvSpPr/>
          <p:nvPr/>
        </p:nvSpPr>
        <p:spPr>
          <a:xfrm>
            <a:off x="61468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cubicBezTo>
                  <a:pt x="232708" y="0"/>
                  <a:pt x="236815" y="893"/>
                  <a:pt x="240566" y="2590"/>
                </a:cubicBezTo>
                <a:lnTo>
                  <a:pt x="408801" y="73938"/>
                </a:lnTo>
                <a:cubicBezTo>
                  <a:pt x="428446" y="82242"/>
                  <a:pt x="443091" y="101620"/>
                  <a:pt x="443002" y="125016"/>
                </a:cubicBezTo>
                <a:cubicBezTo>
                  <a:pt x="442555" y="213598"/>
                  <a:pt x="406122" y="375672"/>
                  <a:pt x="252264" y="449342"/>
                </a:cubicBezTo>
                <a:cubicBezTo>
                  <a:pt x="237351" y="456486"/>
                  <a:pt x="220028" y="456486"/>
                  <a:pt x="205115" y="449342"/>
                </a:cubicBezTo>
                <a:cubicBezTo>
                  <a:pt x="51167" y="375672"/>
                  <a:pt x="14823" y="213598"/>
                  <a:pt x="14377" y="125016"/>
                </a:cubicBezTo>
                <a:cubicBezTo>
                  <a:pt x="14287" y="101620"/>
                  <a:pt x="28932" y="82242"/>
                  <a:pt x="48577" y="73938"/>
                </a:cubicBezTo>
                <a:lnTo>
                  <a:pt x="216724" y="2590"/>
                </a:lnTo>
                <a:cubicBezTo>
                  <a:pt x="220474" y="893"/>
                  <a:pt x="224492" y="0"/>
                  <a:pt x="228600" y="0"/>
                </a:cubicBezTo>
                <a:close/>
                <a:moveTo>
                  <a:pt x="228600" y="59650"/>
                </a:moveTo>
                <a:lnTo>
                  <a:pt x="228600" y="397282"/>
                </a:lnTo>
                <a:cubicBezTo>
                  <a:pt x="351830" y="337631"/>
                  <a:pt x="384959" y="205472"/>
                  <a:pt x="385763" y="126355"/>
                </a:cubicBezTo>
                <a:lnTo>
                  <a:pt x="228600" y="59740"/>
                </a:lnTo>
                <a:lnTo>
                  <a:pt x="228600" y="59740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61468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Quality Issues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46800" y="3962400"/>
            <a:ext cx="3962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NULL values in key fields and inconsistent data types between MariaDB and Redshift broke downstream joins.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7696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744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5400" y="106620"/>
                </a:moveTo>
                <a:cubicBezTo>
                  <a:pt x="10239" y="96798"/>
                  <a:pt x="0" y="78313"/>
                  <a:pt x="0" y="57150"/>
                </a:cubicBezTo>
                <a:cubicBezTo>
                  <a:pt x="0" y="25628"/>
                  <a:pt x="22781" y="0"/>
                  <a:pt x="50800" y="0"/>
                </a:cubicBezTo>
                <a:cubicBezTo>
                  <a:pt x="69612" y="0"/>
                  <a:pt x="86043" y="11519"/>
                  <a:pt x="94774" y="28575"/>
                </a:cubicBezTo>
                <a:lnTo>
                  <a:pt x="362347" y="28575"/>
                </a:lnTo>
                <a:cubicBezTo>
                  <a:pt x="371158" y="11519"/>
                  <a:pt x="387509" y="0"/>
                  <a:pt x="406321" y="0"/>
                </a:cubicBezTo>
                <a:cubicBezTo>
                  <a:pt x="434340" y="0"/>
                  <a:pt x="457121" y="25628"/>
                  <a:pt x="457121" y="57150"/>
                </a:cubicBezTo>
                <a:cubicBezTo>
                  <a:pt x="457121" y="78313"/>
                  <a:pt x="446881" y="96798"/>
                  <a:pt x="431721" y="106620"/>
                </a:cubicBezTo>
                <a:lnTo>
                  <a:pt x="431721" y="350490"/>
                </a:lnTo>
                <a:cubicBezTo>
                  <a:pt x="446881" y="360402"/>
                  <a:pt x="457121" y="378797"/>
                  <a:pt x="457121" y="399961"/>
                </a:cubicBezTo>
                <a:cubicBezTo>
                  <a:pt x="457121" y="431483"/>
                  <a:pt x="434340" y="457111"/>
                  <a:pt x="406321" y="457111"/>
                </a:cubicBezTo>
                <a:cubicBezTo>
                  <a:pt x="387509" y="457111"/>
                  <a:pt x="371078" y="445591"/>
                  <a:pt x="362347" y="428536"/>
                </a:cubicBezTo>
                <a:lnTo>
                  <a:pt x="94774" y="428536"/>
                </a:lnTo>
                <a:cubicBezTo>
                  <a:pt x="85963" y="445591"/>
                  <a:pt x="69612" y="457111"/>
                  <a:pt x="50800" y="457111"/>
                </a:cubicBezTo>
                <a:cubicBezTo>
                  <a:pt x="22781" y="457111"/>
                  <a:pt x="0" y="431483"/>
                  <a:pt x="0" y="399961"/>
                </a:cubicBezTo>
                <a:cubicBezTo>
                  <a:pt x="0" y="378797"/>
                  <a:pt x="10239" y="360313"/>
                  <a:pt x="25400" y="350490"/>
                </a:cubicBezTo>
                <a:lnTo>
                  <a:pt x="25400" y="106620"/>
                </a:lnTo>
                <a:close/>
                <a:moveTo>
                  <a:pt x="381000" y="106620"/>
                </a:moveTo>
                <a:cubicBezTo>
                  <a:pt x="373301" y="101620"/>
                  <a:pt x="366871" y="94387"/>
                  <a:pt x="362426" y="85725"/>
                </a:cubicBezTo>
                <a:lnTo>
                  <a:pt x="94774" y="85725"/>
                </a:lnTo>
                <a:cubicBezTo>
                  <a:pt x="90329" y="94387"/>
                  <a:pt x="83899" y="101620"/>
                  <a:pt x="76200" y="106620"/>
                </a:cubicBezTo>
                <a:lnTo>
                  <a:pt x="76200" y="350490"/>
                </a:lnTo>
                <a:cubicBezTo>
                  <a:pt x="83899" y="355491"/>
                  <a:pt x="90329" y="362724"/>
                  <a:pt x="94774" y="371386"/>
                </a:cubicBezTo>
                <a:lnTo>
                  <a:pt x="362347" y="371386"/>
                </a:lnTo>
                <a:cubicBezTo>
                  <a:pt x="366792" y="362724"/>
                  <a:pt x="373221" y="355491"/>
                  <a:pt x="380921" y="350490"/>
                </a:cubicBezTo>
                <a:lnTo>
                  <a:pt x="380921" y="106620"/>
                </a:lnTo>
                <a:close/>
                <a:moveTo>
                  <a:pt x="114300" y="157163"/>
                </a:moveTo>
                <a:cubicBezTo>
                  <a:pt x="114300" y="141357"/>
                  <a:pt x="125651" y="128588"/>
                  <a:pt x="139700" y="128588"/>
                </a:cubicBezTo>
                <a:lnTo>
                  <a:pt x="228600" y="128588"/>
                </a:lnTo>
                <a:cubicBezTo>
                  <a:pt x="242649" y="128588"/>
                  <a:pt x="254000" y="141357"/>
                  <a:pt x="254000" y="157163"/>
                </a:cubicBezTo>
                <a:lnTo>
                  <a:pt x="254000" y="214313"/>
                </a:lnTo>
                <a:cubicBezTo>
                  <a:pt x="254000" y="230118"/>
                  <a:pt x="242649" y="242888"/>
                  <a:pt x="228600" y="242888"/>
                </a:cubicBezTo>
                <a:lnTo>
                  <a:pt x="139700" y="242888"/>
                </a:lnTo>
                <a:cubicBezTo>
                  <a:pt x="125651" y="242888"/>
                  <a:pt x="114300" y="230118"/>
                  <a:pt x="114300" y="214313"/>
                </a:cubicBezTo>
                <a:lnTo>
                  <a:pt x="114300" y="157163"/>
                </a:lnTo>
                <a:close/>
                <a:moveTo>
                  <a:pt x="203200" y="285750"/>
                </a:moveTo>
                <a:lnTo>
                  <a:pt x="228600" y="285750"/>
                </a:lnTo>
                <a:cubicBezTo>
                  <a:pt x="263684" y="285750"/>
                  <a:pt x="292100" y="253782"/>
                  <a:pt x="292100" y="214313"/>
                </a:cubicBezTo>
                <a:lnTo>
                  <a:pt x="317500" y="214313"/>
                </a:lnTo>
                <a:cubicBezTo>
                  <a:pt x="331549" y="214313"/>
                  <a:pt x="342900" y="227082"/>
                  <a:pt x="342900" y="242888"/>
                </a:cubicBezTo>
                <a:lnTo>
                  <a:pt x="342900" y="300038"/>
                </a:lnTo>
                <a:cubicBezTo>
                  <a:pt x="342900" y="315843"/>
                  <a:pt x="331549" y="328613"/>
                  <a:pt x="317500" y="328613"/>
                </a:cubicBezTo>
                <a:lnTo>
                  <a:pt x="228600" y="328613"/>
                </a:lnTo>
                <a:cubicBezTo>
                  <a:pt x="214551" y="328613"/>
                  <a:pt x="203200" y="315843"/>
                  <a:pt x="203200" y="300038"/>
                </a:cubicBezTo>
                <a:lnTo>
                  <a:pt x="203200" y="285750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110744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Join Granularity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0744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Incorrect join keys caused row duplication in fact tables, inflating metrics and breaking aggregations.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Challenges / CDC &amp; Data Quality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CDC Gaps and Data Quality Issues Resolved with Testing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397000"/>
            <a:ext cx="14427200" cy="762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1498600"/>
            <a:ext cx="13817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800" b="1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 1:</a:t>
            </a:r>
            <a:pPr algn="l">
              <a:lnSpc>
                <a:spcPct val="14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CDC inconsistencies — some updates/deletes not immediately reflected in Redshift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2336800"/>
            <a:ext cx="144272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24892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Fix Applied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19200" y="2844800"/>
            <a:ext cx="1381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Revalidated row counts between source and target after each sync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Added reconciliation queries in DBT to detect mismatches automatically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Improved monitoring of replication lag with CloudWatch alerts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4191000"/>
            <a:ext cx="14427200" cy="762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4292600"/>
            <a:ext cx="138176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40000"/>
              </a:lnSpc>
            </a:pPr>
            <a:r>
              <a:rPr lang="en-US" sz="1800" b="1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 2:</a:t>
            </a:r>
            <a:pPr algn="l">
              <a:lnSpc>
                <a:spcPct val="14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Data quality — NULL values in key fields, inconsistent types between MariaDB and Redshift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" y="5384800"/>
            <a:ext cx="144272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219200" y="5537200"/>
            <a:ext cx="254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Fix Applied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19200" y="5892800"/>
            <a:ext cx="1381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DBT tests: not_null, unique, and relationships on every key column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Standardised casting in staging models (bigint, decimal, timestamp)</a:t>
            </a:r>
            <a:endParaRPr lang="en-US" sz="1600" dirty="0"/>
          </a:p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Default values: -99 for missing IDs, 0 for counts, 'n/a' for strings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14400" y="7366000"/>
            <a:ext cx="14427200" cy="1016000"/>
          </a:xfrm>
          <a:prstGeom prst="rect">
            <a:avLst/>
          </a:prstGeom>
          <a:solidFill>
            <a:srgbClr val="E1E7E5"/>
          </a:solidFill>
          <a:ln/>
        </p:spPr>
      </p:sp>
      <p:sp>
        <p:nvSpPr>
          <p:cNvPr id="15" name="Text 13"/>
          <p:cNvSpPr/>
          <p:nvPr/>
        </p:nvSpPr>
        <p:spPr>
          <a:xfrm>
            <a:off x="1219200" y="7518400"/>
            <a:ext cx="138176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 challenges required </a:t>
            </a:r>
            <a:pPr algn="ctr">
              <a:lnSpc>
                <a:spcPct val="150000"/>
              </a:lnSpc>
            </a:pPr>
            <a:r>
              <a:rPr lang="en-US" sz="1800" b="1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proactive monitoring</a:t>
            </a:r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and </a:t>
            </a:r>
            <a:pPr algn="ctr">
              <a:lnSpc>
                <a:spcPct val="150000"/>
              </a:lnSpc>
            </a:pPr>
            <a:r>
              <a:rPr lang="en-US" sz="1800" b="1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automated testing</a:t>
            </a:r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prevent recurrence — now built into every model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Challenges / Join Complexity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Join Granularity Reworked to Eliminate Duplication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397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Problem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905000"/>
            <a:ext cx="6858000" cy="1524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2057400"/>
            <a:ext cx="62484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Fact tables were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duplicating rows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due to incorrect join granularity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Join keys not aligned with fact table grain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505200"/>
            <a:ext cx="6858000" cy="139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3657600"/>
            <a:ext cx="62484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Root cause: many-to-many relationships (students ↔ classes ↔ assessments) producing Cartesian products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5105400"/>
            <a:ext cx="6858000" cy="1397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5257800"/>
            <a:ext cx="62484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Impact: inflated metrics, broken aggregations, untrustworthy BI reports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128000" y="1397000"/>
            <a:ext cx="0" cy="5334000"/>
          </a:xfrm>
          <a:prstGeom prst="straightConnector1">
            <a:avLst/>
          </a:prstGeom>
          <a:noFill/>
          <a:ln w="12700">
            <a:solidFill>
              <a:srgbClr val="D9770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7874000" y="6858000"/>
            <a:ext cx="508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534400" y="1397000"/>
            <a:ext cx="381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Solution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534400" y="1905000"/>
            <a:ext cx="6807200" cy="1397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5" name="Text 13"/>
          <p:cNvSpPr/>
          <p:nvPr/>
        </p:nvSpPr>
        <p:spPr>
          <a:xfrm>
            <a:off x="8839200" y="2057400"/>
            <a:ext cx="61976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Reworked join keys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to match event-level grain explicitly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Introduced intermediate layer to control grain before marts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34400" y="3505200"/>
            <a:ext cx="6807200" cy="1397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7" name="Text 15"/>
          <p:cNvSpPr/>
          <p:nvPr/>
        </p:nvSpPr>
        <p:spPr>
          <a:xfrm>
            <a:off x="8839200" y="3657600"/>
            <a:ext cx="61976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Ensured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one row per event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 all fact tables</a:t>
            </a:r>
            <a:endParaRPr lang="en-US" sz="1800" dirty="0"/>
          </a:p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Added DBT uniqueness tests to validate grain at build time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534400" y="5105400"/>
            <a:ext cx="6807200" cy="1397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9" name="Text 17"/>
          <p:cNvSpPr/>
          <p:nvPr/>
        </p:nvSpPr>
        <p:spPr>
          <a:xfrm>
            <a:off x="8839200" y="5257800"/>
            <a:ext cx="61976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5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Lesson</a:t>
            </a:r>
            <a:pPr algn="l">
              <a:lnSpc>
                <a:spcPct val="15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always define grain before building fact tables — validate early with tests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 &amp; 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1016000"/>
            <a:ext cx="144272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06 Results &amp; Operations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651000"/>
            <a:ext cx="1143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Delivering clean analytics-ready models with automated validation and reliable CDC sync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144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6" name="Shape 4"/>
          <p:cNvSpPr/>
          <p:nvPr/>
        </p:nvSpPr>
        <p:spPr>
          <a:xfrm>
            <a:off x="12192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457200"/>
                </a:moveTo>
                <a:cubicBezTo>
                  <a:pt x="354768" y="457200"/>
                  <a:pt x="457200" y="354768"/>
                  <a:pt x="457200" y="228600"/>
                </a:cubicBezTo>
                <a:cubicBezTo>
                  <a:pt x="457200" y="102432"/>
                  <a:pt x="354768" y="0"/>
                  <a:pt x="228600" y="0"/>
                </a:cubicBezTo>
                <a:cubicBezTo>
                  <a:pt x="102432" y="0"/>
                  <a:pt x="0" y="102432"/>
                  <a:pt x="0" y="228600"/>
                </a:cubicBezTo>
                <a:cubicBezTo>
                  <a:pt x="0" y="354768"/>
                  <a:pt x="102432" y="457200"/>
                  <a:pt x="228600" y="457200"/>
                </a:cubicBezTo>
                <a:close/>
                <a:moveTo>
                  <a:pt x="303967" y="189934"/>
                </a:moveTo>
                <a:lnTo>
                  <a:pt x="232529" y="304234"/>
                </a:lnTo>
                <a:cubicBezTo>
                  <a:pt x="228779" y="310217"/>
                  <a:pt x="222349" y="313968"/>
                  <a:pt x="215295" y="314325"/>
                </a:cubicBezTo>
                <a:cubicBezTo>
                  <a:pt x="208240" y="314682"/>
                  <a:pt x="201454" y="311468"/>
                  <a:pt x="197257" y="305753"/>
                </a:cubicBezTo>
                <a:lnTo>
                  <a:pt x="154394" y="248602"/>
                </a:lnTo>
                <a:cubicBezTo>
                  <a:pt x="147251" y="239137"/>
                  <a:pt x="149215" y="225743"/>
                  <a:pt x="158681" y="218599"/>
                </a:cubicBezTo>
                <a:cubicBezTo>
                  <a:pt x="168146" y="211455"/>
                  <a:pt x="181541" y="213420"/>
                  <a:pt x="188684" y="222885"/>
                </a:cubicBezTo>
                <a:lnTo>
                  <a:pt x="212794" y="255032"/>
                </a:lnTo>
                <a:lnTo>
                  <a:pt x="267623" y="167253"/>
                </a:lnTo>
                <a:cubicBezTo>
                  <a:pt x="273874" y="157252"/>
                  <a:pt x="287089" y="154126"/>
                  <a:pt x="297180" y="160466"/>
                </a:cubicBezTo>
                <a:cubicBezTo>
                  <a:pt x="307271" y="166807"/>
                  <a:pt x="310307" y="179933"/>
                  <a:pt x="303967" y="190024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Clean Models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92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Analytics-ready star schema in Redshift with tested, documented, version-controlled transformations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8420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0" name="Shape 8"/>
          <p:cNvSpPr/>
          <p:nvPr/>
        </p:nvSpPr>
        <p:spPr>
          <a:xfrm>
            <a:off x="61468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28714" y="171450"/>
                </a:moveTo>
                <a:lnTo>
                  <a:pt x="435769" y="171450"/>
                </a:lnTo>
                <a:cubicBezTo>
                  <a:pt x="447645" y="171450"/>
                  <a:pt x="457200" y="161895"/>
                  <a:pt x="457200" y="150019"/>
                </a:cubicBezTo>
                <a:lnTo>
                  <a:pt x="457200" y="21431"/>
                </a:lnTo>
                <a:cubicBezTo>
                  <a:pt x="457200" y="12769"/>
                  <a:pt x="452021" y="4911"/>
                  <a:pt x="443984" y="1607"/>
                </a:cubicBezTo>
                <a:cubicBezTo>
                  <a:pt x="435947" y="-1697"/>
                  <a:pt x="426750" y="179"/>
                  <a:pt x="420588" y="6251"/>
                </a:cubicBezTo>
                <a:lnTo>
                  <a:pt x="374422" y="52507"/>
                </a:lnTo>
                <a:cubicBezTo>
                  <a:pt x="334863" y="19735"/>
                  <a:pt x="283964" y="0"/>
                  <a:pt x="228600" y="0"/>
                </a:cubicBezTo>
                <a:cubicBezTo>
                  <a:pt x="113407" y="0"/>
                  <a:pt x="18127" y="85189"/>
                  <a:pt x="2322" y="196007"/>
                </a:cubicBezTo>
                <a:cubicBezTo>
                  <a:pt x="89" y="211634"/>
                  <a:pt x="10894" y="226100"/>
                  <a:pt x="26521" y="228332"/>
                </a:cubicBezTo>
                <a:cubicBezTo>
                  <a:pt x="42148" y="230565"/>
                  <a:pt x="56614" y="219670"/>
                  <a:pt x="58847" y="204133"/>
                </a:cubicBezTo>
                <a:cubicBezTo>
                  <a:pt x="70723" y="120997"/>
                  <a:pt x="142250" y="57150"/>
                  <a:pt x="228600" y="57150"/>
                </a:cubicBezTo>
                <a:cubicBezTo>
                  <a:pt x="268248" y="57150"/>
                  <a:pt x="304681" y="70545"/>
                  <a:pt x="333702" y="93137"/>
                </a:cubicBezTo>
                <a:lnTo>
                  <a:pt x="292001" y="134838"/>
                </a:lnTo>
                <a:cubicBezTo>
                  <a:pt x="285839" y="141000"/>
                  <a:pt x="284053" y="150197"/>
                  <a:pt x="287357" y="158234"/>
                </a:cubicBezTo>
                <a:cubicBezTo>
                  <a:pt x="290661" y="166271"/>
                  <a:pt x="298519" y="171450"/>
                  <a:pt x="307181" y="171450"/>
                </a:cubicBezTo>
                <a:lnTo>
                  <a:pt x="428714" y="171450"/>
                </a:lnTo>
                <a:close/>
                <a:moveTo>
                  <a:pt x="454968" y="261193"/>
                </a:moveTo>
                <a:cubicBezTo>
                  <a:pt x="457200" y="245566"/>
                  <a:pt x="446306" y="231100"/>
                  <a:pt x="430768" y="228868"/>
                </a:cubicBezTo>
                <a:cubicBezTo>
                  <a:pt x="415230" y="226635"/>
                  <a:pt x="400675" y="237530"/>
                  <a:pt x="398443" y="253067"/>
                </a:cubicBezTo>
                <a:cubicBezTo>
                  <a:pt x="386566" y="336113"/>
                  <a:pt x="315039" y="399961"/>
                  <a:pt x="228689" y="399961"/>
                </a:cubicBezTo>
                <a:cubicBezTo>
                  <a:pt x="189041" y="399961"/>
                  <a:pt x="152608" y="386566"/>
                  <a:pt x="123587" y="363974"/>
                </a:cubicBezTo>
                <a:lnTo>
                  <a:pt x="165199" y="322362"/>
                </a:lnTo>
                <a:cubicBezTo>
                  <a:pt x="171361" y="316200"/>
                  <a:pt x="173147" y="307003"/>
                  <a:pt x="169843" y="298966"/>
                </a:cubicBezTo>
                <a:cubicBezTo>
                  <a:pt x="166539" y="290929"/>
                  <a:pt x="158681" y="285750"/>
                  <a:pt x="150019" y="285750"/>
                </a:cubicBezTo>
                <a:lnTo>
                  <a:pt x="21431" y="285750"/>
                </a:lnTo>
                <a:cubicBezTo>
                  <a:pt x="9555" y="285750"/>
                  <a:pt x="0" y="295305"/>
                  <a:pt x="0" y="307181"/>
                </a:cubicBezTo>
                <a:lnTo>
                  <a:pt x="0" y="435769"/>
                </a:lnTo>
                <a:cubicBezTo>
                  <a:pt x="0" y="444431"/>
                  <a:pt x="5179" y="452289"/>
                  <a:pt x="13216" y="455593"/>
                </a:cubicBezTo>
                <a:cubicBezTo>
                  <a:pt x="21253" y="458897"/>
                  <a:pt x="30450" y="457021"/>
                  <a:pt x="36612" y="450949"/>
                </a:cubicBezTo>
                <a:lnTo>
                  <a:pt x="82867" y="404693"/>
                </a:lnTo>
                <a:cubicBezTo>
                  <a:pt x="122337" y="437465"/>
                  <a:pt x="173236" y="457200"/>
                  <a:pt x="228600" y="457200"/>
                </a:cubicBezTo>
                <a:cubicBezTo>
                  <a:pt x="343793" y="457200"/>
                  <a:pt x="439073" y="372011"/>
                  <a:pt x="454878" y="261193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61468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Reliable Pipeline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46800" y="3962400"/>
            <a:ext cx="39624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CDC continuous sync, DBT tests on every model, layered architecture preventing data quality regressions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0769600" y="2540000"/>
            <a:ext cx="4572000" cy="5842000"/>
          </a:xfrm>
          <a:prstGeom prst="rect">
            <a:avLst/>
          </a:prstGeom>
          <a:solidFill>
            <a:srgbClr val="1E3F3A"/>
          </a:solidFill>
          <a:ln/>
        </p:spPr>
      </p:sp>
      <p:sp>
        <p:nvSpPr>
          <p:cNvPr id="14" name="Shape 12"/>
          <p:cNvSpPr/>
          <p:nvPr/>
        </p:nvSpPr>
        <p:spPr>
          <a:xfrm>
            <a:off x="11074400" y="2844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57150" y="57150"/>
                </a:moveTo>
                <a:cubicBezTo>
                  <a:pt x="57150" y="41344"/>
                  <a:pt x="44381" y="28575"/>
                  <a:pt x="28575" y="28575"/>
                </a:cubicBezTo>
                <a:cubicBezTo>
                  <a:pt x="12769" y="28575"/>
                  <a:pt x="0" y="41344"/>
                  <a:pt x="0" y="57150"/>
                </a:cubicBezTo>
                <a:lnTo>
                  <a:pt x="0" y="357188"/>
                </a:lnTo>
                <a:cubicBezTo>
                  <a:pt x="0" y="396657"/>
                  <a:pt x="31968" y="428625"/>
                  <a:pt x="71438" y="428625"/>
                </a:cubicBezTo>
                <a:lnTo>
                  <a:pt x="428625" y="428625"/>
                </a:lnTo>
                <a:cubicBezTo>
                  <a:pt x="444431" y="428625"/>
                  <a:pt x="457200" y="415856"/>
                  <a:pt x="457200" y="400050"/>
                </a:cubicBezTo>
                <a:cubicBezTo>
                  <a:pt x="457200" y="384244"/>
                  <a:pt x="444431" y="371475"/>
                  <a:pt x="428625" y="371475"/>
                </a:cubicBezTo>
                <a:lnTo>
                  <a:pt x="71438" y="371475"/>
                </a:lnTo>
                <a:cubicBezTo>
                  <a:pt x="63579" y="371475"/>
                  <a:pt x="57150" y="365046"/>
                  <a:pt x="57150" y="357188"/>
                </a:cubicBezTo>
                <a:lnTo>
                  <a:pt x="57150" y="57150"/>
                </a:lnTo>
                <a:close/>
                <a:moveTo>
                  <a:pt x="420231" y="134481"/>
                </a:moveTo>
                <a:cubicBezTo>
                  <a:pt x="431393" y="123319"/>
                  <a:pt x="431393" y="105192"/>
                  <a:pt x="420231" y="94030"/>
                </a:cubicBezTo>
                <a:cubicBezTo>
                  <a:pt x="409069" y="82867"/>
                  <a:pt x="390942" y="82867"/>
                  <a:pt x="379780" y="94030"/>
                </a:cubicBezTo>
                <a:lnTo>
                  <a:pt x="285750" y="188149"/>
                </a:lnTo>
                <a:lnTo>
                  <a:pt x="234494" y="136981"/>
                </a:lnTo>
                <a:cubicBezTo>
                  <a:pt x="223331" y="125819"/>
                  <a:pt x="205204" y="125819"/>
                  <a:pt x="194042" y="136981"/>
                </a:cubicBezTo>
                <a:lnTo>
                  <a:pt x="108317" y="222706"/>
                </a:lnTo>
                <a:cubicBezTo>
                  <a:pt x="97155" y="233869"/>
                  <a:pt x="97155" y="251996"/>
                  <a:pt x="108317" y="263158"/>
                </a:cubicBezTo>
                <a:cubicBezTo>
                  <a:pt x="119479" y="274320"/>
                  <a:pt x="137606" y="274320"/>
                  <a:pt x="148769" y="263158"/>
                </a:cubicBezTo>
                <a:lnTo>
                  <a:pt x="214313" y="197614"/>
                </a:lnTo>
                <a:lnTo>
                  <a:pt x="265569" y="248870"/>
                </a:lnTo>
                <a:cubicBezTo>
                  <a:pt x="276731" y="260033"/>
                  <a:pt x="294858" y="260033"/>
                  <a:pt x="306020" y="248870"/>
                </a:cubicBezTo>
                <a:lnTo>
                  <a:pt x="420320" y="134570"/>
                </a:ln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11074400" y="3454400"/>
            <a:ext cx="39624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Trusted Analytics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074400" y="3962400"/>
            <a:ext cx="3962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QuickSight dashboards powered by fast star-schema queries — analysts trust the data for performance reporting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 / Deliverables &amp; Reliability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Clean Star-Schema Warehouse with Automated DBT Validation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397000"/>
            <a:ext cx="69850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219200" y="1701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406400" y="163354"/>
                </a:moveTo>
                <a:cubicBezTo>
                  <a:pt x="392974" y="171133"/>
                  <a:pt x="377553" y="177403"/>
                  <a:pt x="361496" y="182404"/>
                </a:cubicBezTo>
                <a:cubicBezTo>
                  <a:pt x="318861" y="195739"/>
                  <a:pt x="262890" y="203200"/>
                  <a:pt x="203200" y="203200"/>
                </a:cubicBezTo>
                <a:cubicBezTo>
                  <a:pt x="143510" y="203200"/>
                  <a:pt x="87449" y="195659"/>
                  <a:pt x="44904" y="182404"/>
                </a:cubicBezTo>
                <a:cubicBezTo>
                  <a:pt x="28938" y="177403"/>
                  <a:pt x="13426" y="171133"/>
                  <a:pt x="0" y="163354"/>
                </a:cubicBezTo>
                <a:lnTo>
                  <a:pt x="0" y="228600"/>
                </a:lnTo>
                <a:cubicBezTo>
                  <a:pt x="0" y="263684"/>
                  <a:pt x="90986" y="292100"/>
                  <a:pt x="203200" y="292100"/>
                </a:cubicBezTo>
                <a:cubicBezTo>
                  <a:pt x="315414" y="292100"/>
                  <a:pt x="406400" y="263684"/>
                  <a:pt x="406400" y="228600"/>
                </a:cubicBezTo>
                <a:lnTo>
                  <a:pt x="406400" y="163354"/>
                </a:lnTo>
                <a:close/>
                <a:moveTo>
                  <a:pt x="406400" y="101600"/>
                </a:moveTo>
                <a:lnTo>
                  <a:pt x="406400" y="63500"/>
                </a:lnTo>
                <a:cubicBezTo>
                  <a:pt x="406400" y="28416"/>
                  <a:pt x="315414" y="0"/>
                  <a:pt x="203200" y="0"/>
                </a:cubicBezTo>
                <a:cubicBezTo>
                  <a:pt x="90986" y="0"/>
                  <a:pt x="0" y="28416"/>
                  <a:pt x="0" y="63500"/>
                </a:cubicBezTo>
                <a:lnTo>
                  <a:pt x="0" y="101600"/>
                </a:lnTo>
                <a:cubicBezTo>
                  <a:pt x="0" y="136684"/>
                  <a:pt x="90986" y="165100"/>
                  <a:pt x="203200" y="165100"/>
                </a:cubicBezTo>
                <a:cubicBezTo>
                  <a:pt x="315414" y="165100"/>
                  <a:pt x="406400" y="136684"/>
                  <a:pt x="406400" y="101600"/>
                </a:cubicBezTo>
                <a:close/>
                <a:moveTo>
                  <a:pt x="361496" y="309404"/>
                </a:moveTo>
                <a:cubicBezTo>
                  <a:pt x="318951" y="322659"/>
                  <a:pt x="262981" y="330200"/>
                  <a:pt x="203200" y="330200"/>
                </a:cubicBezTo>
                <a:cubicBezTo>
                  <a:pt x="143419" y="330200"/>
                  <a:pt x="87449" y="322659"/>
                  <a:pt x="44904" y="309404"/>
                </a:cubicBezTo>
                <a:cubicBezTo>
                  <a:pt x="28938" y="304403"/>
                  <a:pt x="13426" y="298133"/>
                  <a:pt x="0" y="290354"/>
                </a:cubicBezTo>
                <a:lnTo>
                  <a:pt x="0" y="342900"/>
                </a:lnTo>
                <a:cubicBezTo>
                  <a:pt x="0" y="377984"/>
                  <a:pt x="90986" y="406400"/>
                  <a:pt x="203200" y="406400"/>
                </a:cubicBezTo>
                <a:cubicBezTo>
                  <a:pt x="315414" y="406400"/>
                  <a:pt x="406400" y="377984"/>
                  <a:pt x="406400" y="342900"/>
                </a:cubicBezTo>
                <a:lnTo>
                  <a:pt x="406400" y="290354"/>
                </a:lnTo>
                <a:cubicBezTo>
                  <a:pt x="392974" y="298133"/>
                  <a:pt x="377553" y="304403"/>
                  <a:pt x="361496" y="309404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600200"/>
            <a:ext cx="5765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Analytics-Ready Data Models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1981200"/>
            <a:ext cx="57658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Clean star schema in Redshift: 4 dimensions + 3 fact tables, all tested and documented via DBT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356600" y="1397000"/>
            <a:ext cx="69850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661400" y="1701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72571" y="82550"/>
                </a:moveTo>
                <a:cubicBezTo>
                  <a:pt x="84587" y="82550"/>
                  <a:pt x="94343" y="74014"/>
                  <a:pt x="94343" y="63500"/>
                </a:cubicBezTo>
                <a:cubicBezTo>
                  <a:pt x="94343" y="52986"/>
                  <a:pt x="84587" y="44450"/>
                  <a:pt x="72571" y="44450"/>
                </a:cubicBezTo>
                <a:cubicBezTo>
                  <a:pt x="60555" y="44450"/>
                  <a:pt x="50800" y="52986"/>
                  <a:pt x="50800" y="63500"/>
                </a:cubicBezTo>
                <a:cubicBezTo>
                  <a:pt x="50800" y="74014"/>
                  <a:pt x="60555" y="82550"/>
                  <a:pt x="72571" y="82550"/>
                </a:cubicBezTo>
                <a:close/>
                <a:moveTo>
                  <a:pt x="145143" y="63500"/>
                </a:moveTo>
                <a:cubicBezTo>
                  <a:pt x="145143" y="89535"/>
                  <a:pt x="127272" y="111919"/>
                  <a:pt x="101600" y="121682"/>
                </a:cubicBezTo>
                <a:lnTo>
                  <a:pt x="101600" y="177800"/>
                </a:lnTo>
                <a:lnTo>
                  <a:pt x="261257" y="177800"/>
                </a:lnTo>
                <a:cubicBezTo>
                  <a:pt x="285296" y="177800"/>
                  <a:pt x="304800" y="160734"/>
                  <a:pt x="304800" y="139700"/>
                </a:cubicBezTo>
                <a:lnTo>
                  <a:pt x="304800" y="121682"/>
                </a:lnTo>
                <a:cubicBezTo>
                  <a:pt x="279128" y="111919"/>
                  <a:pt x="261257" y="89535"/>
                  <a:pt x="261257" y="63500"/>
                </a:cubicBezTo>
                <a:cubicBezTo>
                  <a:pt x="261257" y="28416"/>
                  <a:pt x="293733" y="0"/>
                  <a:pt x="333829" y="0"/>
                </a:cubicBezTo>
                <a:cubicBezTo>
                  <a:pt x="373924" y="0"/>
                  <a:pt x="406400" y="28416"/>
                  <a:pt x="406400" y="63500"/>
                </a:cubicBezTo>
                <a:cubicBezTo>
                  <a:pt x="406400" y="89535"/>
                  <a:pt x="388529" y="111919"/>
                  <a:pt x="362857" y="121682"/>
                </a:cubicBezTo>
                <a:lnTo>
                  <a:pt x="362857" y="139700"/>
                </a:lnTo>
                <a:cubicBezTo>
                  <a:pt x="362857" y="188833"/>
                  <a:pt x="317409" y="228600"/>
                  <a:pt x="261257" y="228600"/>
                </a:cubicBezTo>
                <a:lnTo>
                  <a:pt x="101600" y="228600"/>
                </a:lnTo>
                <a:lnTo>
                  <a:pt x="101600" y="284718"/>
                </a:lnTo>
                <a:cubicBezTo>
                  <a:pt x="127272" y="294481"/>
                  <a:pt x="145143" y="316865"/>
                  <a:pt x="145143" y="342900"/>
                </a:cubicBezTo>
                <a:cubicBezTo>
                  <a:pt x="145143" y="377984"/>
                  <a:pt x="112667" y="406400"/>
                  <a:pt x="72571" y="406400"/>
                </a:cubicBezTo>
                <a:cubicBezTo>
                  <a:pt x="32476" y="406400"/>
                  <a:pt x="0" y="377984"/>
                  <a:pt x="0" y="342900"/>
                </a:cubicBezTo>
                <a:cubicBezTo>
                  <a:pt x="0" y="316865"/>
                  <a:pt x="17871" y="294481"/>
                  <a:pt x="43543" y="284718"/>
                </a:cubicBezTo>
                <a:lnTo>
                  <a:pt x="43543" y="121761"/>
                </a:lnTo>
                <a:cubicBezTo>
                  <a:pt x="17871" y="111919"/>
                  <a:pt x="0" y="89535"/>
                  <a:pt x="0" y="63500"/>
                </a:cubicBezTo>
                <a:cubicBezTo>
                  <a:pt x="0" y="28416"/>
                  <a:pt x="32476" y="0"/>
                  <a:pt x="72571" y="0"/>
                </a:cubicBezTo>
                <a:cubicBezTo>
                  <a:pt x="112667" y="0"/>
                  <a:pt x="145143" y="28416"/>
                  <a:pt x="145143" y="63500"/>
                </a:cubicBezTo>
                <a:close/>
                <a:moveTo>
                  <a:pt x="355600" y="63500"/>
                </a:moveTo>
                <a:cubicBezTo>
                  <a:pt x="355600" y="52986"/>
                  <a:pt x="345845" y="44450"/>
                  <a:pt x="333829" y="44450"/>
                </a:cubicBezTo>
                <a:cubicBezTo>
                  <a:pt x="321813" y="44450"/>
                  <a:pt x="312057" y="52986"/>
                  <a:pt x="312057" y="63500"/>
                </a:cubicBezTo>
                <a:cubicBezTo>
                  <a:pt x="312057" y="74014"/>
                  <a:pt x="321813" y="82550"/>
                  <a:pt x="333829" y="82550"/>
                </a:cubicBezTo>
                <a:cubicBezTo>
                  <a:pt x="345845" y="82550"/>
                  <a:pt x="355600" y="74014"/>
                  <a:pt x="355600" y="63500"/>
                </a:cubicBezTo>
                <a:close/>
                <a:moveTo>
                  <a:pt x="72571" y="361950"/>
                </a:moveTo>
                <a:cubicBezTo>
                  <a:pt x="84587" y="361950"/>
                  <a:pt x="94343" y="353414"/>
                  <a:pt x="94343" y="342900"/>
                </a:cubicBezTo>
                <a:cubicBezTo>
                  <a:pt x="94343" y="332386"/>
                  <a:pt x="84587" y="323850"/>
                  <a:pt x="72571" y="323850"/>
                </a:cubicBezTo>
                <a:cubicBezTo>
                  <a:pt x="60555" y="323850"/>
                  <a:pt x="50800" y="332386"/>
                  <a:pt x="50800" y="342900"/>
                </a:cubicBezTo>
                <a:cubicBezTo>
                  <a:pt x="50800" y="353414"/>
                  <a:pt x="60555" y="361950"/>
                  <a:pt x="72571" y="361950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0" name="Text 8"/>
          <p:cNvSpPr/>
          <p:nvPr/>
        </p:nvSpPr>
        <p:spPr>
          <a:xfrm>
            <a:off x="9271000" y="1600200"/>
            <a:ext cx="5765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Version-Controlled Transformations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271000" y="1981200"/>
            <a:ext cx="57658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All DBT models in Git: peer review, change tracking, and rollback capability for every transformation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14400" y="3429000"/>
            <a:ext cx="69850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19200" y="3733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5400" y="25400"/>
                </a:moveTo>
                <a:cubicBezTo>
                  <a:pt x="25400" y="11351"/>
                  <a:pt x="36751" y="0"/>
                  <a:pt x="50800" y="0"/>
                </a:cubicBezTo>
                <a:lnTo>
                  <a:pt x="228600" y="0"/>
                </a:lnTo>
                <a:cubicBezTo>
                  <a:pt x="242649" y="0"/>
                  <a:pt x="254000" y="11351"/>
                  <a:pt x="254000" y="25400"/>
                </a:cubicBezTo>
                <a:cubicBezTo>
                  <a:pt x="254000" y="39449"/>
                  <a:pt x="242649" y="50800"/>
                  <a:pt x="228600" y="50800"/>
                </a:cubicBezTo>
                <a:lnTo>
                  <a:pt x="228600" y="178911"/>
                </a:lnTo>
                <a:cubicBezTo>
                  <a:pt x="176133" y="202962"/>
                  <a:pt x="139700" y="255984"/>
                  <a:pt x="139700" y="317500"/>
                </a:cubicBezTo>
                <a:cubicBezTo>
                  <a:pt x="139700" y="349012"/>
                  <a:pt x="149225" y="378301"/>
                  <a:pt x="165656" y="402590"/>
                </a:cubicBezTo>
                <a:cubicBezTo>
                  <a:pt x="157480" y="405051"/>
                  <a:pt x="148749" y="406400"/>
                  <a:pt x="139700" y="406400"/>
                </a:cubicBezTo>
                <a:cubicBezTo>
                  <a:pt x="90567" y="406400"/>
                  <a:pt x="50800" y="366633"/>
                  <a:pt x="50800" y="317500"/>
                </a:cubicBezTo>
                <a:lnTo>
                  <a:pt x="50800" y="50800"/>
                </a:lnTo>
                <a:cubicBezTo>
                  <a:pt x="36751" y="50800"/>
                  <a:pt x="25400" y="39449"/>
                  <a:pt x="25400" y="25400"/>
                </a:cubicBezTo>
                <a:close/>
                <a:moveTo>
                  <a:pt x="101600" y="50800"/>
                </a:moveTo>
                <a:lnTo>
                  <a:pt x="101600" y="152400"/>
                </a:lnTo>
                <a:lnTo>
                  <a:pt x="177800" y="152400"/>
                </a:lnTo>
                <a:lnTo>
                  <a:pt x="177800" y="50800"/>
                </a:lnTo>
                <a:lnTo>
                  <a:pt x="101600" y="50800"/>
                </a:lnTo>
                <a:close/>
                <a:moveTo>
                  <a:pt x="177800" y="317500"/>
                </a:moveTo>
                <a:cubicBezTo>
                  <a:pt x="177800" y="254416"/>
                  <a:pt x="229016" y="203200"/>
                  <a:pt x="292100" y="203200"/>
                </a:cubicBezTo>
                <a:cubicBezTo>
                  <a:pt x="355184" y="203200"/>
                  <a:pt x="406400" y="254416"/>
                  <a:pt x="406400" y="317500"/>
                </a:cubicBezTo>
                <a:cubicBezTo>
                  <a:pt x="406400" y="380584"/>
                  <a:pt x="355184" y="431800"/>
                  <a:pt x="292100" y="431800"/>
                </a:cubicBezTo>
                <a:cubicBezTo>
                  <a:pt x="229016" y="431800"/>
                  <a:pt x="177800" y="380584"/>
                  <a:pt x="177800" y="317500"/>
                </a:cubicBezTo>
                <a:close/>
                <a:moveTo>
                  <a:pt x="337661" y="269161"/>
                </a:moveTo>
                <a:cubicBezTo>
                  <a:pt x="332026" y="265033"/>
                  <a:pt x="324009" y="266303"/>
                  <a:pt x="319881" y="271939"/>
                </a:cubicBezTo>
                <a:lnTo>
                  <a:pt x="277813" y="329803"/>
                </a:lnTo>
                <a:lnTo>
                  <a:pt x="256540" y="308531"/>
                </a:lnTo>
                <a:cubicBezTo>
                  <a:pt x="251619" y="303609"/>
                  <a:pt x="243523" y="303609"/>
                  <a:pt x="238601" y="308531"/>
                </a:cubicBezTo>
                <a:cubicBezTo>
                  <a:pt x="233680" y="313452"/>
                  <a:pt x="233680" y="321548"/>
                  <a:pt x="238601" y="326469"/>
                </a:cubicBezTo>
                <a:lnTo>
                  <a:pt x="270351" y="358219"/>
                </a:lnTo>
                <a:cubicBezTo>
                  <a:pt x="272971" y="360839"/>
                  <a:pt x="276622" y="362188"/>
                  <a:pt x="280352" y="361871"/>
                </a:cubicBezTo>
                <a:cubicBezTo>
                  <a:pt x="284083" y="361553"/>
                  <a:pt x="287417" y="359648"/>
                  <a:pt x="289639" y="356711"/>
                </a:cubicBezTo>
                <a:lnTo>
                  <a:pt x="340439" y="286861"/>
                </a:lnTo>
                <a:cubicBezTo>
                  <a:pt x="344567" y="281226"/>
                  <a:pt x="343297" y="273209"/>
                  <a:pt x="337661" y="269161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0" y="3632200"/>
            <a:ext cx="5765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Automated Data Validation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4013200"/>
            <a:ext cx="57658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DBT tests run on every model: not_null, unique, relationships — catching data quality issues before they reach BI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356600" y="3429000"/>
            <a:ext cx="69850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8661400" y="3733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52308" y="181372"/>
                </a:moveTo>
                <a:cubicBezTo>
                  <a:pt x="62865" y="107553"/>
                  <a:pt x="126444" y="50800"/>
                  <a:pt x="203200" y="50800"/>
                </a:cubicBezTo>
                <a:cubicBezTo>
                  <a:pt x="245269" y="50800"/>
                  <a:pt x="283369" y="67866"/>
                  <a:pt x="310991" y="95409"/>
                </a:cubicBezTo>
                <a:cubicBezTo>
                  <a:pt x="311150" y="95568"/>
                  <a:pt x="311309" y="95726"/>
                  <a:pt x="311468" y="95885"/>
                </a:cubicBezTo>
                <a:lnTo>
                  <a:pt x="317500" y="101600"/>
                </a:lnTo>
                <a:lnTo>
                  <a:pt x="279479" y="101600"/>
                </a:lnTo>
                <a:cubicBezTo>
                  <a:pt x="265430" y="101600"/>
                  <a:pt x="254079" y="112951"/>
                  <a:pt x="254079" y="127000"/>
                </a:cubicBezTo>
                <a:cubicBezTo>
                  <a:pt x="254079" y="141049"/>
                  <a:pt x="265430" y="152400"/>
                  <a:pt x="279479" y="152400"/>
                </a:cubicBezTo>
                <a:lnTo>
                  <a:pt x="381079" y="152400"/>
                </a:lnTo>
                <a:cubicBezTo>
                  <a:pt x="395129" y="152400"/>
                  <a:pt x="406479" y="141049"/>
                  <a:pt x="406479" y="127000"/>
                </a:cubicBezTo>
                <a:lnTo>
                  <a:pt x="406479" y="25400"/>
                </a:lnTo>
                <a:cubicBezTo>
                  <a:pt x="406479" y="11351"/>
                  <a:pt x="395129" y="0"/>
                  <a:pt x="381079" y="0"/>
                </a:cubicBezTo>
                <a:cubicBezTo>
                  <a:pt x="367030" y="0"/>
                  <a:pt x="355679" y="11351"/>
                  <a:pt x="355679" y="25400"/>
                </a:cubicBezTo>
                <a:lnTo>
                  <a:pt x="355679" y="67786"/>
                </a:lnTo>
                <a:lnTo>
                  <a:pt x="346710" y="59293"/>
                </a:lnTo>
                <a:cubicBezTo>
                  <a:pt x="309959" y="22701"/>
                  <a:pt x="259159" y="0"/>
                  <a:pt x="203200" y="0"/>
                </a:cubicBezTo>
                <a:cubicBezTo>
                  <a:pt x="100806" y="0"/>
                  <a:pt x="16113" y="75724"/>
                  <a:pt x="2064" y="174228"/>
                </a:cubicBezTo>
                <a:cubicBezTo>
                  <a:pt x="79" y="188119"/>
                  <a:pt x="9684" y="200978"/>
                  <a:pt x="23574" y="202962"/>
                </a:cubicBezTo>
                <a:cubicBezTo>
                  <a:pt x="37465" y="204946"/>
                  <a:pt x="50324" y="195263"/>
                  <a:pt x="52308" y="181451"/>
                </a:cubicBezTo>
                <a:close/>
                <a:moveTo>
                  <a:pt x="404336" y="232172"/>
                </a:moveTo>
                <a:cubicBezTo>
                  <a:pt x="406321" y="218281"/>
                  <a:pt x="396637" y="205423"/>
                  <a:pt x="382826" y="203438"/>
                </a:cubicBezTo>
                <a:cubicBezTo>
                  <a:pt x="369014" y="201454"/>
                  <a:pt x="356076" y="211138"/>
                  <a:pt x="354092" y="224949"/>
                </a:cubicBezTo>
                <a:cubicBezTo>
                  <a:pt x="343535" y="298768"/>
                  <a:pt x="279956" y="355521"/>
                  <a:pt x="203200" y="355521"/>
                </a:cubicBezTo>
                <a:cubicBezTo>
                  <a:pt x="161131" y="355521"/>
                  <a:pt x="123031" y="338455"/>
                  <a:pt x="95409" y="310912"/>
                </a:cubicBezTo>
                <a:cubicBezTo>
                  <a:pt x="95250" y="310753"/>
                  <a:pt x="95091" y="310594"/>
                  <a:pt x="94932" y="310436"/>
                </a:cubicBezTo>
                <a:lnTo>
                  <a:pt x="88900" y="304721"/>
                </a:lnTo>
                <a:lnTo>
                  <a:pt x="126921" y="304721"/>
                </a:lnTo>
                <a:cubicBezTo>
                  <a:pt x="140970" y="304721"/>
                  <a:pt x="152321" y="293370"/>
                  <a:pt x="152321" y="279321"/>
                </a:cubicBezTo>
                <a:cubicBezTo>
                  <a:pt x="152321" y="265271"/>
                  <a:pt x="140970" y="253921"/>
                  <a:pt x="126921" y="253921"/>
                </a:cubicBezTo>
                <a:lnTo>
                  <a:pt x="25400" y="254000"/>
                </a:lnTo>
                <a:cubicBezTo>
                  <a:pt x="18653" y="254000"/>
                  <a:pt x="12144" y="256699"/>
                  <a:pt x="7382" y="261541"/>
                </a:cubicBezTo>
                <a:cubicBezTo>
                  <a:pt x="2619" y="266383"/>
                  <a:pt x="-79" y="272812"/>
                  <a:pt x="0" y="279638"/>
                </a:cubicBezTo>
                <a:lnTo>
                  <a:pt x="794" y="380444"/>
                </a:lnTo>
                <a:cubicBezTo>
                  <a:pt x="873" y="394494"/>
                  <a:pt x="12383" y="405765"/>
                  <a:pt x="26432" y="405606"/>
                </a:cubicBezTo>
                <a:cubicBezTo>
                  <a:pt x="40481" y="405448"/>
                  <a:pt x="51753" y="394017"/>
                  <a:pt x="51594" y="379968"/>
                </a:cubicBezTo>
                <a:lnTo>
                  <a:pt x="51276" y="339090"/>
                </a:lnTo>
                <a:lnTo>
                  <a:pt x="59769" y="347107"/>
                </a:lnTo>
                <a:cubicBezTo>
                  <a:pt x="96520" y="383699"/>
                  <a:pt x="147241" y="406400"/>
                  <a:pt x="203200" y="406400"/>
                </a:cubicBezTo>
                <a:cubicBezTo>
                  <a:pt x="305594" y="406400"/>
                  <a:pt x="390287" y="330676"/>
                  <a:pt x="404336" y="232172"/>
                </a:cubicBezTo>
                <a:close/>
              </a:path>
            </a:pathLst>
          </a:cu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9271000" y="3632200"/>
            <a:ext cx="5765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Continuous CDC Sync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71000" y="4013200"/>
            <a:ext cx="57658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AWS DMS with CDC ensures near real-time data sync from MariaDB to Redshift without manual intervention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" y="55880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Reliability Approach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14400" y="6096000"/>
            <a:ext cx="14427200" cy="1778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22" name="Text 20"/>
          <p:cNvSpPr/>
          <p:nvPr/>
        </p:nvSpPr>
        <p:spPr>
          <a:xfrm>
            <a:off x="1219200" y="6299200"/>
            <a:ext cx="1381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6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Layered architecture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staging → intermediate → marts — each layer validates before passing downstream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6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DBT tests for every model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schema, data quality, and relationship tests run on every build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◆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</a:t>
            </a:r>
            <a:pPr algn="l">
              <a:lnSpc>
                <a:spcPct val="160000"/>
              </a:lnSpc>
            </a:pPr>
            <a:r>
              <a:rPr lang="en-US" sz="18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Version-controlled transformations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: Git enables code review, audit trails, and safe deployments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Results / Impact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Project Impact: From Fragmented Data to Trusted Analytics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1397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78716C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BEFORE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14400" y="1879600"/>
            <a:ext cx="6985000" cy="3302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2082800"/>
            <a:ext cx="63754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✗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Data fragmented across multiple tables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✗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Manual reporting processes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✗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Inconsistent insights across teams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✗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No data quality validation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✗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Engineering-dependent analytics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001000" y="3302000"/>
            <a:ext cx="508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8" name="Text 6"/>
          <p:cNvSpPr/>
          <p:nvPr/>
        </p:nvSpPr>
        <p:spPr>
          <a:xfrm>
            <a:off x="8763000" y="1397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AFTER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8763000" y="1879600"/>
            <a:ext cx="6578600" cy="3302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0" name="Text 8"/>
          <p:cNvSpPr/>
          <p:nvPr/>
        </p:nvSpPr>
        <p:spPr>
          <a:xfrm>
            <a:off x="9067800" y="2082800"/>
            <a:ext cx="5969000" cy="289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Centralised cloud warehouse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Automated ELT pipeline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Consistent, trusted analytics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DBT tests on every model</a:t>
            </a:r>
            <a:endParaRPr lang="en-US" sz="1800" dirty="0"/>
          </a:p>
          <a:p>
            <a:pPr algn="l">
              <a:lnSpc>
                <a:spcPct val="16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✓</a:t>
            </a:r>
            <a:pPr algn="l">
              <a:lnSpc>
                <a:spcPct val="160000"/>
              </a:lnSpc>
            </a:pPr>
            <a:r>
              <a:rPr lang="en-US" sz="18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Self-serve BI for analysts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55880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2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Achievements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34290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19200" y="6248400"/>
            <a:ext cx="28194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Real-Time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219200" y="6781800"/>
            <a:ext cx="2819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Near real-time data sync via CDC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97400" y="6096000"/>
            <a:ext cx="34290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902200" y="6248400"/>
            <a:ext cx="28194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Fast Queries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902200" y="6781800"/>
            <a:ext cx="2819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Star schema optimised for BI performance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280400" y="6096000"/>
            <a:ext cx="34290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585200" y="6248400"/>
            <a:ext cx="28194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Tested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585200" y="6781800"/>
            <a:ext cx="2819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Automated DBT tests on every build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1963400" y="6096000"/>
            <a:ext cx="3378200" cy="177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2268200" y="6248400"/>
            <a:ext cx="27686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D97706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Scalable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12268200" y="6781800"/>
            <a:ext cx="2768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ready for new data sources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0" y="4283004"/>
            <a:ext cx="254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224889" y="4102382"/>
            <a:ext cx="254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66276" y="3452142"/>
            <a:ext cx="254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endParaRPr lang="en-US" sz="1800" dirty="0"/>
          </a:p>
        </p:txBody>
      </p:sp>
    </p:spTree>
  </p:cSld>
  <p:clrMapOvr>
    <a:masterClrMapping/>
  </p:clrMapOvr>
  <p:transition>
    <p:fade/>
    <p:spd val="med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32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Architecture / Full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914400" y="609600"/>
            <a:ext cx="144272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ELT Architecture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524000"/>
            <a:ext cx="2540000" cy="1016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76400"/>
            <a:ext cx="2540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MariaDB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OLTP Source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54400" y="1968500"/>
            <a:ext cx="762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7" name="Text 5"/>
          <p:cNvSpPr/>
          <p:nvPr/>
        </p:nvSpPr>
        <p:spPr>
          <a:xfrm>
            <a:off x="3454400" y="1651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CDC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16400" y="1524000"/>
            <a:ext cx="2540000" cy="1016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4216400" y="1676400"/>
            <a:ext cx="2540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AWS DMS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Extract + Replicate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756400" y="1968500"/>
            <a:ext cx="762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7518400" y="1524000"/>
            <a:ext cx="2540000" cy="1016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2" name="Text 10"/>
          <p:cNvSpPr/>
          <p:nvPr/>
        </p:nvSpPr>
        <p:spPr>
          <a:xfrm>
            <a:off x="7518400" y="1676400"/>
            <a:ext cx="2540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Redshift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Raw / Staging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058400" y="1968500"/>
            <a:ext cx="762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0820400" y="1524000"/>
            <a:ext cx="2540000" cy="1016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10820400" y="1676400"/>
            <a:ext cx="2540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DBT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FFFF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Transform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090400" y="2540000"/>
            <a:ext cx="0" cy="76200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17" name="Shape 15"/>
          <p:cNvSpPr/>
          <p:nvPr/>
        </p:nvSpPr>
        <p:spPr>
          <a:xfrm>
            <a:off x="10820400" y="3302000"/>
            <a:ext cx="2540000" cy="1016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18" name="Text 16"/>
          <p:cNvSpPr/>
          <p:nvPr/>
        </p:nvSpPr>
        <p:spPr>
          <a:xfrm>
            <a:off x="10820400" y="3454400"/>
            <a:ext cx="2540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Redshift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Facts + Dimensions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2090400" y="4318000"/>
            <a:ext cx="0" cy="76200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0820400" y="5080000"/>
            <a:ext cx="2540000" cy="1016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21" name="Text 19"/>
          <p:cNvSpPr/>
          <p:nvPr/>
        </p:nvSpPr>
        <p:spPr>
          <a:xfrm>
            <a:off x="10820400" y="5232400"/>
            <a:ext cx="2540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6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QuickSight</a:t>
            </a:r>
            <a:endParaRPr lang="en-US" sz="1600" dirty="0"/>
          </a:p>
          <a:p>
            <a:pPr algn="ctr">
              <a:lnSpc>
                <a:spcPct val="120000"/>
              </a:lnSpc>
            </a:pPr>
            <a:r>
              <a:rPr lang="en-US" sz="12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BI Dashboards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29210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Three-Layer Transformation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914400" y="3429000"/>
            <a:ext cx="3048000" cy="101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1066800" y="3530600"/>
            <a:ext cx="27432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4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Staging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Clean, type, default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4400" y="4572000"/>
            <a:ext cx="3048000" cy="101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800" y="4673600"/>
            <a:ext cx="27432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4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Intermediate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Join, widen, control grain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" y="5715000"/>
            <a:ext cx="3048000" cy="101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66800" y="5816600"/>
            <a:ext cx="27432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400" b="1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Marts</a:t>
            </a:r>
            <a:endParaRPr lang="en-US" sz="1400" dirty="0"/>
          </a:p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292524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Star schema for BI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438400" y="4445000"/>
            <a:ext cx="0" cy="127000"/>
          </a:xfrm>
          <a:prstGeom prst="straightConnector1">
            <a:avLst/>
          </a:prstGeom>
          <a:noFill/>
          <a:ln w="12700">
            <a:solidFill>
              <a:srgbClr val="D97706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2438400" y="5588000"/>
            <a:ext cx="0" cy="127000"/>
          </a:xfrm>
          <a:prstGeom prst="straightConnector1">
            <a:avLst/>
          </a:prstGeom>
          <a:noFill/>
          <a:ln w="12700">
            <a:solidFill>
              <a:srgbClr val="D97706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4318000" y="3302000"/>
            <a:ext cx="508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000" b="1" dirty="0">
                <a:solidFill>
                  <a:srgbClr val="1A363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Star Schema Output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4318000" y="3810000"/>
            <a:ext cx="5842000" cy="1270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33" name="Text 31"/>
          <p:cNvSpPr/>
          <p:nvPr/>
        </p:nvSpPr>
        <p:spPr>
          <a:xfrm>
            <a:off x="4521200" y="3937000"/>
            <a:ext cx="5435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4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Dimensions</a:t>
            </a:r>
            <a:endParaRPr lang="en-US" sz="1400" dirty="0"/>
          </a:p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dim_students · dim_classes · dim_programmes · dim_content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318000" y="5270500"/>
            <a:ext cx="5842000" cy="1270000"/>
          </a:xfrm>
          <a:prstGeom prst="rect">
            <a:avLst/>
          </a:prstGeom>
          <a:solidFill>
            <a:srgbClr val="1A3632"/>
          </a:solidFill>
          <a:ln/>
        </p:spPr>
      </p:sp>
      <p:sp>
        <p:nvSpPr>
          <p:cNvPr id="35" name="Text 33"/>
          <p:cNvSpPr/>
          <p:nvPr/>
        </p:nvSpPr>
        <p:spPr>
          <a:xfrm>
            <a:off x="4521200" y="5397500"/>
            <a:ext cx="54356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400" b="1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Facts</a:t>
            </a:r>
            <a:endParaRPr lang="en-US" sz="1400" dirty="0"/>
          </a:p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fact_student_assessments · fact_student_activity · fact_performance_metrics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14400" y="6731000"/>
            <a:ext cx="14427200" cy="1270000"/>
          </a:xfrm>
          <a:prstGeom prst="rect">
            <a:avLst/>
          </a:prstGeom>
          <a:solidFill>
            <a:srgbClr val="E1E7E5"/>
          </a:solidFill>
          <a:ln/>
        </p:spPr>
      </p:sp>
      <p:sp>
        <p:nvSpPr>
          <p:cNvPr id="37" name="Text 35"/>
          <p:cNvSpPr/>
          <p:nvPr/>
        </p:nvSpPr>
        <p:spPr>
          <a:xfrm>
            <a:off x="1219200" y="6883400"/>
            <a:ext cx="138176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</a:t>
            </a:r>
            <a:pPr algn="ctr">
              <a:lnSpc>
                <a:spcPct val="150000"/>
              </a:lnSpc>
            </a:pPr>
            <a:r>
              <a:rPr lang="en-US" sz="1800" b="1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ELT architecture pattern is reusable</a:t>
            </a:r>
            <a:pPr algn="ctr">
              <a:lnSpc>
                <a:spcPct val="150000"/>
              </a:lnSpc>
            </a:pPr>
            <a:r>
              <a:rPr lang="en-US" sz="1800" dirty="0">
                <a:solidFill>
                  <a:srgbClr val="1A363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for future data integration projects — modular tools, layered transformations, and star-schema output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4605000" y="8636000"/>
            <a:ext cx="711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200" dirty="0">
                <a:solidFill>
                  <a:srgbClr val="78716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  <p:transition>
    <p:fade/>
    <p:spd val="med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36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wyh56twrgxihg/mnt/agents/output/sandtechnology-warehousing/images/5_A_Complete_Guide_to_Data_Pipelin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1A3632">
              <a:alpha val="90196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3048000"/>
            <a:ext cx="12700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"I built a scalable ELT pipeline using AWS DMS, Redshift, and DBT that transformed raw student operational data into a structured star-schema warehouse powering analytics and reporting."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914400" y="4699000"/>
            <a:ext cx="1016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1800" dirty="0">
                <a:solidFill>
                  <a:srgbClr val="D9770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— Godfrey Lehoko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914400" y="5334000"/>
            <a:ext cx="1016000" cy="0"/>
          </a:xfrm>
          <a:prstGeom prst="straightConnector1">
            <a:avLst/>
          </a:prstGeom>
          <a:noFill/>
          <a:ln w="25400">
            <a:solidFill>
              <a:srgbClr val="D97706"/>
            </a:solidFill>
            <a:prstDash val="solid"/>
            <a:headEnd type="none"/>
            <a:tailEnd type="none"/>
          </a:ln>
        </p:spPr>
      </p:sp>
      <p:sp>
        <p:nvSpPr>
          <p:cNvPr id="7" name="Text 4"/>
          <p:cNvSpPr/>
          <p:nvPr/>
        </p:nvSpPr>
        <p:spPr>
          <a:xfrm>
            <a:off x="914400" y="57150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2400" b="1" dirty="0">
                <a:solidFill>
                  <a:srgbClr val="F4F1EA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6477000"/>
            <a:ext cx="7620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SandTechnology Warehousing + Migration Project</a:t>
            </a:r>
            <a:endParaRPr lang="en-US" sz="1400" dirty="0"/>
          </a:p>
          <a:p>
            <a:pPr algn="l">
              <a:lnSpc>
                <a:spcPct val="160000"/>
              </a:lnSpc>
            </a:pPr>
            <a:r>
              <a:rPr lang="en-US" sz="1400" dirty="0">
                <a:solidFill>
                  <a:srgbClr val="F4F1EA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ELT Pipeline | Data Engineering | Analytics</a:t>
            </a:r>
            <a:endParaRPr lang="en-US" sz="1400" dirty="0"/>
          </a:p>
        </p:txBody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SandTechnology Warehousing + Migration</dc:title>
  <dc:subject>SandTechnology Warehousing + Migration</dc:subject>
  <dc:creator>Kimi</dc:creator>
  <cp:lastModifiedBy>Kimi</cp:lastModifiedBy>
  <cp:revision>1</cp:revision>
  <dcterms:created xsi:type="dcterms:W3CDTF">2026-06-24T19:03:57Z</dcterms:created>
  <dcterms:modified xsi:type="dcterms:W3CDTF">2026-06-24T19:03:57Z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{"Label":"SandTechnology Warehousing + Migration","ContentProducer":"001191110108MACG2KBH8F10000","ProduceID":"19efad6b-a402-803e-8000-0000fcb2f1d3","ReservedCode1":"","ContentPropagator":"001191110108MACG2KBH8F20000","PropagateID":"19efad35-6e92-8634-8000-09b369cb696a","ReservedCode2":""}</vt:lpwstr>
  </property>
</Properties>
</file>
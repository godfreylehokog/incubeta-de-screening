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94000"/>
            <a:ext cx="660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SandTechnology Warehousing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454400"/>
            <a:ext cx="660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Migration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4318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ELT Data Pipeline Project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953000"/>
            <a:ext cx="1016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8128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Godfrey Lehoko</a:t>
            </a:r>
            <a:endParaRPr lang="en-US" sz="1400" dirty="0"/>
          </a:p>
        </p:txBody>
      </p:sp>
      <p:pic>
        <p:nvPicPr>
          <p:cNvPr id="8" name="Image 0" descr="https://kimi-img.moonshot.cn/pub/slides/okc/wyh56twrgxihg/mnt/agents/output/sandtechnology-warehousing/images/5_A_Complete_Guide_to_Data_Pipeli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gradFill rotWithShape="1" flip="none">
            <a:gsLst>
              <a:gs pos="0">
                <a:srgbClr val="1A3632">
                  <a:alpha val="80000"/>
                </a:srgbClr>
              </a:gs>
              <a:gs pos="30000">
                <a:srgbClr val="1A3632">
                  <a:alpha val="25000"/>
                </a:srgbClr>
              </a:gs>
              <a:gs pos="100000">
                <a:srgbClr val="1A3632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3" name="Text 1"/>
          <p:cNvSpPr/>
          <p:nvPr/>
        </p:nvSpPr>
        <p:spPr>
          <a:xfrm>
            <a:off x="850900" y="3207879"/>
            <a:ext cx="660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0900" y="3884507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ELT Data Pipeline Project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419600"/>
            <a:ext cx="1016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512951" y="2694517"/>
            <a:ext cx="7356687" cy="3321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endParaRPr lang="en-US" sz="2400" dirty="0"/>
          </a:p>
          <a:p>
            <a:pPr algn="l">
              <a:lnSpc>
                <a:spcPct val="140000"/>
              </a:lnSpc>
            </a:pPr>
            <a:r>
              <a:rPr lang="en-US" sz="2400" b="1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goal of this project was to build a reliable and scalable data pipeline to move student performance data from an operational database (MariaDB) into a cloud data warehouse (Redshift) for analytics and reporting.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04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2192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914400" y="17780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27200" y="177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Aims &amp;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27200" y="2159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Goals &amp; Business Problem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6416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914400" y="28956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14500" y="2895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Tech Stack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27200" y="3276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ELT Pipeline &amp; Tool Selection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7592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14400" y="40132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27200" y="4013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Contribution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27200" y="43942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DBT Transformation Layer &amp; Data Modelling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8768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51308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27200" y="51308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&amp; Metrics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27200" y="55118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Volume &amp; Complexity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59944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14400" y="62484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27200" y="6248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Challenges &amp; Failures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27200" y="66294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CDC, Data Quality &amp; Join Complexity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71120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14400" y="73660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727200" y="7366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Operations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27200" y="7747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Deliverables, Reliability &amp; Impact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Aims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16000"/>
            <a:ext cx="14427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Aims &amp;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51000"/>
            <a:ext cx="1016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a reliable and scalable data pipeline for student performance analytics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9200" y="39624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Consolidate all student data from fragmented MariaDB tables into a single Redshift warehouse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0" name="Shape 8"/>
          <p:cNvSpPr/>
          <p:nvPr/>
        </p:nvSpPr>
        <p:spPr>
          <a:xfrm>
            <a:off x="61468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5758" y="-8840"/>
                </a:moveTo>
                <a:cubicBezTo>
                  <a:pt x="357902" y="-1161"/>
                  <a:pt x="362392" y="12769"/>
                  <a:pt x="356881" y="24914"/>
                </a:cubicBezTo>
                <a:lnTo>
                  <a:pt x="276871" y="200025"/>
                </a:lnTo>
                <a:lnTo>
                  <a:pt x="424543" y="200025"/>
                </a:lnTo>
                <a:cubicBezTo>
                  <a:pt x="438320" y="200025"/>
                  <a:pt x="450567" y="207526"/>
                  <a:pt x="455261" y="218867"/>
                </a:cubicBezTo>
                <a:cubicBezTo>
                  <a:pt x="459955" y="230207"/>
                  <a:pt x="455975" y="242888"/>
                  <a:pt x="445464" y="250567"/>
                </a:cubicBezTo>
                <a:lnTo>
                  <a:pt x="151550" y="464880"/>
                </a:lnTo>
                <a:cubicBezTo>
                  <a:pt x="140018" y="473273"/>
                  <a:pt x="123587" y="473720"/>
                  <a:pt x="111443" y="466040"/>
                </a:cubicBezTo>
                <a:cubicBezTo>
                  <a:pt x="99298" y="458361"/>
                  <a:pt x="94808" y="444431"/>
                  <a:pt x="100319" y="432286"/>
                </a:cubicBezTo>
                <a:lnTo>
                  <a:pt x="180329" y="257175"/>
                </a:lnTo>
                <a:lnTo>
                  <a:pt x="32657" y="257175"/>
                </a:lnTo>
                <a:cubicBezTo>
                  <a:pt x="18880" y="257175"/>
                  <a:pt x="6633" y="249674"/>
                  <a:pt x="1939" y="238333"/>
                </a:cubicBezTo>
                <a:cubicBezTo>
                  <a:pt x="-2755" y="226993"/>
                  <a:pt x="1225" y="214312"/>
                  <a:pt x="11736" y="206633"/>
                </a:cubicBezTo>
                <a:lnTo>
                  <a:pt x="305650" y="-7680"/>
                </a:lnTo>
                <a:cubicBezTo>
                  <a:pt x="317183" y="-16073"/>
                  <a:pt x="333613" y="-16520"/>
                  <a:pt x="345758" y="-884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1468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Sync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46800" y="39624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near real-time updates using CDC from MariaDB to Redshift without full reloads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696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744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10744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Analytics-Ready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074400" y="39624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raw operational data into structured datasets powering QuickSight dashboards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Aims &amp; Objectives / Project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Data Fragmentation Solved by Centralised Warehouse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397000"/>
            <a:ext cx="14427200" cy="1270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549400"/>
            <a:ext cx="13208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Problem: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 data was fragmented across multiple tables and systems, making it difficult for analysts to generate consistent performance insights.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048000"/>
            <a:ext cx="4572000" cy="254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32512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19200" y="3759200"/>
            <a:ext cx="396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Centralise in Redshift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41402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Move all student records into a single cloud data warehouse for unified analytics access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3048000"/>
            <a:ext cx="4572000" cy="254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146800" y="32512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46800" y="3759200"/>
            <a:ext cx="396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Near Real-Time CDC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46800" y="41402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 replicate changes from MariaDB so analysts always work with fresh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69600" y="3048000"/>
            <a:ext cx="4572000" cy="254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074400" y="32512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074400" y="3759200"/>
            <a:ext cx="396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for Analytics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074400" y="41402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raw OLTP data into structured, tested, analytics-ready datasets for QuickSight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6096000"/>
            <a:ext cx="144272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6273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19200" y="6705600"/>
            <a:ext cx="13817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reliable, scalable ELT pipeline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replacing manual, inconsistent reporting processes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Analysts can self-serve performance insights without engineering support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16000"/>
            <a:ext cx="14427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Architecture &amp; 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510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ELT pattern leveraging cloud-native tools for scalable data integration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9289" y="200025"/>
                  <a:pt x="65314" y="200025"/>
                </a:cubicBezTo>
                <a:lnTo>
                  <a:pt x="391886" y="200025"/>
                </a:lnTo>
                <a:cubicBezTo>
                  <a:pt x="427911" y="200025"/>
                  <a:pt x="457200" y="174397"/>
                  <a:pt x="457200" y="142875"/>
                </a:cubicBezTo>
                <a:lnTo>
                  <a:pt x="457200" y="85725"/>
                </a:lnTo>
                <a:cubicBezTo>
                  <a:pt x="457200" y="54203"/>
                  <a:pt x="427911" y="28575"/>
                  <a:pt x="391886" y="28575"/>
                </a:cubicBezTo>
                <a:lnTo>
                  <a:pt x="65314" y="28575"/>
                </a:lnTo>
                <a:close/>
                <a:moveTo>
                  <a:pt x="285750" y="92869"/>
                </a:moveTo>
                <a:cubicBezTo>
                  <a:pt x="299268" y="92869"/>
                  <a:pt x="310243" y="102472"/>
                  <a:pt x="310243" y="114300"/>
                </a:cubicBezTo>
                <a:cubicBezTo>
                  <a:pt x="310243" y="126128"/>
                  <a:pt x="299268" y="135731"/>
                  <a:pt x="285750" y="135731"/>
                </a:cubicBezTo>
                <a:cubicBezTo>
                  <a:pt x="272232" y="135731"/>
                  <a:pt x="261257" y="126128"/>
                  <a:pt x="261257" y="114300"/>
                </a:cubicBezTo>
                <a:cubicBezTo>
                  <a:pt x="261257" y="102472"/>
                  <a:pt x="272232" y="92869"/>
                  <a:pt x="285750" y="92869"/>
                </a:cubicBezTo>
                <a:close/>
                <a:moveTo>
                  <a:pt x="342900" y="114300"/>
                </a:moveTo>
                <a:cubicBezTo>
                  <a:pt x="342900" y="102472"/>
                  <a:pt x="353875" y="92869"/>
                  <a:pt x="367393" y="92869"/>
                </a:cubicBezTo>
                <a:cubicBezTo>
                  <a:pt x="380911" y="92869"/>
                  <a:pt x="391886" y="102472"/>
                  <a:pt x="391886" y="114300"/>
                </a:cubicBezTo>
                <a:cubicBezTo>
                  <a:pt x="391886" y="126128"/>
                  <a:pt x="380911" y="135731"/>
                  <a:pt x="367393" y="135731"/>
                </a:cubicBezTo>
                <a:cubicBezTo>
                  <a:pt x="353875" y="135731"/>
                  <a:pt x="342900" y="126128"/>
                  <a:pt x="342900" y="114300"/>
                </a:cubicBezTo>
                <a:close/>
                <a:moveTo>
                  <a:pt x="65314" y="257175"/>
                </a:moveTo>
                <a:cubicBezTo>
                  <a:pt x="29289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314325"/>
                </a:lnTo>
                <a:cubicBezTo>
                  <a:pt x="457200" y="282803"/>
                  <a:pt x="427911" y="257175"/>
                  <a:pt x="391886" y="257175"/>
                </a:cubicBezTo>
                <a:lnTo>
                  <a:pt x="65314" y="257175"/>
                </a:lnTo>
                <a:close/>
                <a:moveTo>
                  <a:pt x="285750" y="321469"/>
                </a:moveTo>
                <a:cubicBezTo>
                  <a:pt x="299268" y="321469"/>
                  <a:pt x="310243" y="331072"/>
                  <a:pt x="310243" y="342900"/>
                </a:cubicBezTo>
                <a:cubicBezTo>
                  <a:pt x="310243" y="354728"/>
                  <a:pt x="299268" y="364331"/>
                  <a:pt x="285750" y="364331"/>
                </a:cubicBezTo>
                <a:cubicBezTo>
                  <a:pt x="272232" y="364331"/>
                  <a:pt x="261257" y="354728"/>
                  <a:pt x="261257" y="342900"/>
                </a:cubicBezTo>
                <a:cubicBezTo>
                  <a:pt x="261257" y="331072"/>
                  <a:pt x="272232" y="321469"/>
                  <a:pt x="285750" y="321469"/>
                </a:cubicBezTo>
                <a:close/>
                <a:moveTo>
                  <a:pt x="342900" y="342900"/>
                </a:moveTo>
                <a:cubicBezTo>
                  <a:pt x="342900" y="331072"/>
                  <a:pt x="353875" y="321469"/>
                  <a:pt x="367393" y="321469"/>
                </a:cubicBezTo>
                <a:cubicBezTo>
                  <a:pt x="380911" y="321469"/>
                  <a:pt x="391886" y="331072"/>
                  <a:pt x="391886" y="342900"/>
                </a:cubicBezTo>
                <a:cubicBezTo>
                  <a:pt x="391886" y="354728"/>
                  <a:pt x="380911" y="364331"/>
                  <a:pt x="367393" y="364331"/>
                </a:cubicBezTo>
                <a:cubicBezTo>
                  <a:pt x="353875" y="364331"/>
                  <a:pt x="342900" y="354728"/>
                  <a:pt x="342900" y="3429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&amp; Load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9200" y="39624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MariaDB OLTP source ingested via AWS DMS with CDC into Redshift raw/staging layer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0" name="Shape 8"/>
          <p:cNvSpPr/>
          <p:nvPr/>
        </p:nvSpPr>
        <p:spPr>
          <a:xfrm>
            <a:off x="61468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6385" y="1072"/>
                </a:moveTo>
                <a:cubicBezTo>
                  <a:pt x="272891" y="-3304"/>
                  <a:pt x="258842" y="5536"/>
                  <a:pt x="254953" y="20717"/>
                </a:cubicBezTo>
                <a:lnTo>
                  <a:pt x="153353" y="420767"/>
                </a:lnTo>
                <a:cubicBezTo>
                  <a:pt x="149463" y="435947"/>
                  <a:pt x="157321" y="451753"/>
                  <a:pt x="170815" y="456128"/>
                </a:cubicBezTo>
                <a:cubicBezTo>
                  <a:pt x="184309" y="460504"/>
                  <a:pt x="198358" y="451664"/>
                  <a:pt x="202248" y="436483"/>
                </a:cubicBezTo>
                <a:lnTo>
                  <a:pt x="303848" y="36433"/>
                </a:lnTo>
                <a:cubicBezTo>
                  <a:pt x="307737" y="21253"/>
                  <a:pt x="299879" y="5447"/>
                  <a:pt x="286385" y="1072"/>
                </a:cubicBezTo>
                <a:close/>
                <a:moveTo>
                  <a:pt x="337661" y="122605"/>
                </a:moveTo>
                <a:cubicBezTo>
                  <a:pt x="327739" y="133767"/>
                  <a:pt x="327739" y="151894"/>
                  <a:pt x="337661" y="163056"/>
                </a:cubicBezTo>
                <a:lnTo>
                  <a:pt x="395922" y="228600"/>
                </a:lnTo>
                <a:lnTo>
                  <a:pt x="337661" y="294144"/>
                </a:lnTo>
                <a:cubicBezTo>
                  <a:pt x="327739" y="305306"/>
                  <a:pt x="327739" y="323433"/>
                  <a:pt x="337661" y="334595"/>
                </a:cubicBezTo>
                <a:cubicBezTo>
                  <a:pt x="347583" y="345758"/>
                  <a:pt x="363696" y="345758"/>
                  <a:pt x="373618" y="334595"/>
                </a:cubicBezTo>
                <a:lnTo>
                  <a:pt x="449818" y="248870"/>
                </a:lnTo>
                <a:cubicBezTo>
                  <a:pt x="459740" y="237708"/>
                  <a:pt x="459740" y="219581"/>
                  <a:pt x="449818" y="208419"/>
                </a:cubicBezTo>
                <a:lnTo>
                  <a:pt x="373618" y="122694"/>
                </a:lnTo>
                <a:cubicBezTo>
                  <a:pt x="363696" y="111532"/>
                  <a:pt x="347583" y="111532"/>
                  <a:pt x="337661" y="122694"/>
                </a:cubicBezTo>
                <a:close/>
                <a:moveTo>
                  <a:pt x="119618" y="122605"/>
                </a:moveTo>
                <a:cubicBezTo>
                  <a:pt x="109696" y="111442"/>
                  <a:pt x="93583" y="111442"/>
                  <a:pt x="83661" y="122605"/>
                </a:cubicBezTo>
                <a:lnTo>
                  <a:pt x="7461" y="208330"/>
                </a:lnTo>
                <a:cubicBezTo>
                  <a:pt x="-2461" y="219492"/>
                  <a:pt x="-2461" y="237619"/>
                  <a:pt x="7461" y="248781"/>
                </a:cubicBezTo>
                <a:lnTo>
                  <a:pt x="83661" y="334506"/>
                </a:lnTo>
                <a:cubicBezTo>
                  <a:pt x="93583" y="345668"/>
                  <a:pt x="109696" y="345668"/>
                  <a:pt x="119618" y="334506"/>
                </a:cubicBezTo>
                <a:cubicBezTo>
                  <a:pt x="129540" y="323344"/>
                  <a:pt x="129540" y="305217"/>
                  <a:pt x="119618" y="294055"/>
                </a:cubicBezTo>
                <a:lnTo>
                  <a:pt x="61357" y="228600"/>
                </a:lnTo>
                <a:lnTo>
                  <a:pt x="119539" y="163056"/>
                </a:lnTo>
                <a:cubicBezTo>
                  <a:pt x="129461" y="151894"/>
                  <a:pt x="129461" y="133767"/>
                  <a:pt x="119539" y="12260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1468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46800" y="39624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DBT runs SQL transformations inside Redshift: staging, intermediate, and marts layers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696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744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6718" y="214313"/>
                </a:moveTo>
                <a:lnTo>
                  <a:pt x="267017" y="214313"/>
                </a:lnTo>
                <a:cubicBezTo>
                  <a:pt x="252968" y="214313"/>
                  <a:pt x="241618" y="201543"/>
                  <a:pt x="241618" y="185738"/>
                </a:cubicBezTo>
                <a:lnTo>
                  <a:pt x="241618" y="28575"/>
                </a:lnTo>
                <a:cubicBezTo>
                  <a:pt x="241618" y="12769"/>
                  <a:pt x="253047" y="-179"/>
                  <a:pt x="266938" y="1875"/>
                </a:cubicBezTo>
                <a:cubicBezTo>
                  <a:pt x="351869" y="14555"/>
                  <a:pt x="419179" y="90279"/>
                  <a:pt x="430451" y="185827"/>
                </a:cubicBezTo>
                <a:cubicBezTo>
                  <a:pt x="432276" y="201454"/>
                  <a:pt x="420767" y="214313"/>
                  <a:pt x="406718" y="214313"/>
                </a:cubicBezTo>
                <a:close/>
                <a:moveTo>
                  <a:pt x="176689" y="33218"/>
                </a:moveTo>
                <a:cubicBezTo>
                  <a:pt x="191056" y="29825"/>
                  <a:pt x="203518" y="43041"/>
                  <a:pt x="203518" y="59561"/>
                </a:cubicBezTo>
                <a:lnTo>
                  <a:pt x="203518" y="235744"/>
                </a:lnTo>
                <a:cubicBezTo>
                  <a:pt x="203518" y="240744"/>
                  <a:pt x="205105" y="245566"/>
                  <a:pt x="207883" y="249406"/>
                </a:cubicBezTo>
                <a:lnTo>
                  <a:pt x="312738" y="391745"/>
                </a:lnTo>
                <a:cubicBezTo>
                  <a:pt x="322024" y="404336"/>
                  <a:pt x="320040" y="423356"/>
                  <a:pt x="307261" y="431125"/>
                </a:cubicBezTo>
                <a:cubicBezTo>
                  <a:pt x="280194" y="447735"/>
                  <a:pt x="249158" y="457200"/>
                  <a:pt x="216218" y="457200"/>
                </a:cubicBezTo>
                <a:cubicBezTo>
                  <a:pt x="111046" y="457200"/>
                  <a:pt x="25718" y="361206"/>
                  <a:pt x="25718" y="242888"/>
                </a:cubicBezTo>
                <a:cubicBezTo>
                  <a:pt x="25718" y="139750"/>
                  <a:pt x="90408" y="53667"/>
                  <a:pt x="176689" y="33218"/>
                </a:cubicBezTo>
                <a:close/>
                <a:moveTo>
                  <a:pt x="379254" y="257175"/>
                </a:moveTo>
                <a:lnTo>
                  <a:pt x="430054" y="257175"/>
                </a:lnTo>
                <a:cubicBezTo>
                  <a:pt x="444738" y="257175"/>
                  <a:pt x="456486" y="271195"/>
                  <a:pt x="453469" y="287357"/>
                </a:cubicBezTo>
                <a:cubicBezTo>
                  <a:pt x="445373" y="330577"/>
                  <a:pt x="425688" y="368975"/>
                  <a:pt x="398224" y="398264"/>
                </a:cubicBezTo>
                <a:cubicBezTo>
                  <a:pt x="388461" y="408712"/>
                  <a:pt x="373142" y="406479"/>
                  <a:pt x="364569" y="394781"/>
                </a:cubicBezTo>
                <a:lnTo>
                  <a:pt x="297577" y="303967"/>
                </a:lnTo>
                <a:cubicBezTo>
                  <a:pt x="283845" y="285304"/>
                  <a:pt x="295672" y="257175"/>
                  <a:pt x="317103" y="257175"/>
                </a:cubicBezTo>
                <a:lnTo>
                  <a:pt x="379174" y="25717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10744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Visualise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074400" y="39624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QuickSight dashboards consume the star-schema marts for interactive student performance reporting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/ ELT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ELT Pipeline: From MariaDB OLTP to QuickSight Analytics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270000"/>
            <a:ext cx="14427200" cy="1016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422400"/>
            <a:ext cx="13817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Design Decision: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ELT instead of ETL - Redshift handles transformations at scale, making DBT the ideal tool inside the warehouse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94000"/>
            <a:ext cx="2540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778000" y="2946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1A3632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34544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MariaDB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1400" y="37846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OLTP Source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4400" y="34925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962400" y="2794000"/>
            <a:ext cx="2540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26000" y="2946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2308" y="181372"/>
                </a:moveTo>
                <a:cubicBezTo>
                  <a:pt x="62865" y="107553"/>
                  <a:pt x="126444" y="50800"/>
                  <a:pt x="203200" y="50800"/>
                </a:cubicBezTo>
                <a:cubicBezTo>
                  <a:pt x="245269" y="50800"/>
                  <a:pt x="283369" y="67866"/>
                  <a:pt x="310991" y="95409"/>
                </a:cubicBezTo>
                <a:cubicBezTo>
                  <a:pt x="311150" y="95568"/>
                  <a:pt x="311309" y="95726"/>
                  <a:pt x="311468" y="95885"/>
                </a:cubicBezTo>
                <a:lnTo>
                  <a:pt x="317500" y="101600"/>
                </a:lnTo>
                <a:lnTo>
                  <a:pt x="279479" y="101600"/>
                </a:lnTo>
                <a:cubicBezTo>
                  <a:pt x="265430" y="101600"/>
                  <a:pt x="254079" y="112951"/>
                  <a:pt x="254079" y="127000"/>
                </a:cubicBezTo>
                <a:cubicBezTo>
                  <a:pt x="254079" y="141049"/>
                  <a:pt x="265430" y="152400"/>
                  <a:pt x="279479" y="152400"/>
                </a:cubicBezTo>
                <a:lnTo>
                  <a:pt x="381079" y="152400"/>
                </a:lnTo>
                <a:cubicBezTo>
                  <a:pt x="395129" y="152400"/>
                  <a:pt x="406479" y="141049"/>
                  <a:pt x="406479" y="127000"/>
                </a:cubicBezTo>
                <a:lnTo>
                  <a:pt x="406479" y="25400"/>
                </a:lnTo>
                <a:cubicBezTo>
                  <a:pt x="406479" y="11351"/>
                  <a:pt x="395129" y="0"/>
                  <a:pt x="381079" y="0"/>
                </a:cubicBezTo>
                <a:cubicBezTo>
                  <a:pt x="367030" y="0"/>
                  <a:pt x="355679" y="11351"/>
                  <a:pt x="355679" y="25400"/>
                </a:cubicBezTo>
                <a:lnTo>
                  <a:pt x="355679" y="67786"/>
                </a:lnTo>
                <a:lnTo>
                  <a:pt x="346710" y="59293"/>
                </a:lnTo>
                <a:cubicBezTo>
                  <a:pt x="309959" y="22701"/>
                  <a:pt x="259159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lose/>
                <a:moveTo>
                  <a:pt x="404336" y="232172"/>
                </a:moveTo>
                <a:cubicBezTo>
                  <a:pt x="406321" y="218281"/>
                  <a:pt x="396637" y="205423"/>
                  <a:pt x="382826" y="203438"/>
                </a:cubicBezTo>
                <a:cubicBezTo>
                  <a:pt x="369014" y="201454"/>
                  <a:pt x="356076" y="211138"/>
                  <a:pt x="354092" y="224949"/>
                </a:cubicBezTo>
                <a:cubicBezTo>
                  <a:pt x="343535" y="298768"/>
                  <a:pt x="279956" y="355521"/>
                  <a:pt x="203200" y="355521"/>
                </a:cubicBezTo>
                <a:cubicBezTo>
                  <a:pt x="161131" y="355521"/>
                  <a:pt x="123031" y="338455"/>
                  <a:pt x="95409" y="310912"/>
                </a:cubicBezTo>
                <a:cubicBezTo>
                  <a:pt x="95250" y="310753"/>
                  <a:pt x="95091" y="310594"/>
                  <a:pt x="94932" y="310436"/>
                </a:cubicBezTo>
                <a:lnTo>
                  <a:pt x="88900" y="304721"/>
                </a:lnTo>
                <a:lnTo>
                  <a:pt x="126921" y="304721"/>
                </a:lnTo>
                <a:cubicBezTo>
                  <a:pt x="140970" y="304721"/>
                  <a:pt x="152321" y="293370"/>
                  <a:pt x="152321" y="279321"/>
                </a:cubicBezTo>
                <a:cubicBezTo>
                  <a:pt x="152321" y="265271"/>
                  <a:pt x="140970" y="253921"/>
                  <a:pt x="126921" y="253921"/>
                </a:cubicBezTo>
                <a:lnTo>
                  <a:pt x="25400" y="254000"/>
                </a:lnTo>
                <a:cubicBezTo>
                  <a:pt x="18653" y="254000"/>
                  <a:pt x="12144" y="256699"/>
                  <a:pt x="7382" y="261541"/>
                </a:cubicBezTo>
                <a:cubicBezTo>
                  <a:pt x="2619" y="266383"/>
                  <a:pt x="-79" y="272812"/>
                  <a:pt x="0" y="279638"/>
                </a:cubicBezTo>
                <a:lnTo>
                  <a:pt x="794" y="380444"/>
                </a:lnTo>
                <a:cubicBezTo>
                  <a:pt x="873" y="394494"/>
                  <a:pt x="12383" y="405765"/>
                  <a:pt x="26432" y="405606"/>
                </a:cubicBezTo>
                <a:cubicBezTo>
                  <a:pt x="40481" y="405448"/>
                  <a:pt x="51753" y="394017"/>
                  <a:pt x="51594" y="379968"/>
                </a:cubicBezTo>
                <a:lnTo>
                  <a:pt x="51276" y="339090"/>
                </a:lnTo>
                <a:lnTo>
                  <a:pt x="59769" y="347107"/>
                </a:lnTo>
                <a:cubicBezTo>
                  <a:pt x="96520" y="383699"/>
                  <a:pt x="147241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089400" y="34544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DMS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89400" y="37846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CDC Replication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02400" y="34925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010400" y="2794000"/>
            <a:ext cx="2540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874000" y="2946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112792"/>
                </a:moveTo>
                <a:lnTo>
                  <a:pt x="0" y="381000"/>
                </a:lnTo>
                <a:cubicBezTo>
                  <a:pt x="0" y="395049"/>
                  <a:pt x="10089" y="406400"/>
                  <a:pt x="22578" y="406400"/>
                </a:cubicBezTo>
                <a:cubicBezTo>
                  <a:pt x="35066" y="406400"/>
                  <a:pt x="45156" y="395049"/>
                  <a:pt x="45156" y="381000"/>
                </a:cubicBezTo>
                <a:lnTo>
                  <a:pt x="45156" y="190500"/>
                </a:lnTo>
                <a:cubicBezTo>
                  <a:pt x="45156" y="176451"/>
                  <a:pt x="55245" y="165100"/>
                  <a:pt x="67733" y="165100"/>
                </a:cubicBezTo>
                <a:lnTo>
                  <a:pt x="338667" y="165100"/>
                </a:lnTo>
                <a:cubicBezTo>
                  <a:pt x="351155" y="165100"/>
                  <a:pt x="361244" y="176451"/>
                  <a:pt x="361244" y="190500"/>
                </a:cubicBezTo>
                <a:lnTo>
                  <a:pt x="361244" y="381000"/>
                </a:lnTo>
                <a:cubicBezTo>
                  <a:pt x="361244" y="395049"/>
                  <a:pt x="371334" y="406400"/>
                  <a:pt x="383822" y="406400"/>
                </a:cubicBezTo>
                <a:cubicBezTo>
                  <a:pt x="396311" y="406400"/>
                  <a:pt x="406400" y="395049"/>
                  <a:pt x="406400" y="381000"/>
                </a:cubicBezTo>
                <a:lnTo>
                  <a:pt x="406400" y="112792"/>
                </a:lnTo>
                <a:cubicBezTo>
                  <a:pt x="406400" y="90964"/>
                  <a:pt x="393982" y="71517"/>
                  <a:pt x="375497" y="64611"/>
                </a:cubicBezTo>
                <a:lnTo>
                  <a:pt x="213924" y="4048"/>
                </a:lnTo>
                <a:cubicBezTo>
                  <a:pt x="206939" y="1429"/>
                  <a:pt x="199461" y="1429"/>
                  <a:pt x="192476" y="4048"/>
                </a:cubicBezTo>
                <a:lnTo>
                  <a:pt x="30903" y="64611"/>
                </a:lnTo>
                <a:cubicBezTo>
                  <a:pt x="12418" y="71517"/>
                  <a:pt x="0" y="90964"/>
                  <a:pt x="0" y="112792"/>
                </a:cubicBezTo>
                <a:close/>
                <a:moveTo>
                  <a:pt x="327378" y="203200"/>
                </a:moveTo>
                <a:lnTo>
                  <a:pt x="79022" y="203200"/>
                </a:lnTo>
                <a:lnTo>
                  <a:pt x="79022" y="254000"/>
                </a:lnTo>
                <a:lnTo>
                  <a:pt x="327378" y="254000"/>
                </a:lnTo>
                <a:lnTo>
                  <a:pt x="327378" y="203200"/>
                </a:lnTo>
                <a:close/>
                <a:moveTo>
                  <a:pt x="79022" y="330200"/>
                </a:moveTo>
                <a:lnTo>
                  <a:pt x="327378" y="330200"/>
                </a:lnTo>
                <a:lnTo>
                  <a:pt x="327378" y="279400"/>
                </a:lnTo>
                <a:lnTo>
                  <a:pt x="79022" y="279400"/>
                </a:lnTo>
                <a:lnTo>
                  <a:pt x="79022" y="330200"/>
                </a:lnTo>
                <a:close/>
                <a:moveTo>
                  <a:pt x="327378" y="355600"/>
                </a:moveTo>
                <a:lnTo>
                  <a:pt x="79022" y="355600"/>
                </a:lnTo>
                <a:lnTo>
                  <a:pt x="79022" y="406400"/>
                </a:lnTo>
                <a:lnTo>
                  <a:pt x="327378" y="406400"/>
                </a:lnTo>
                <a:lnTo>
                  <a:pt x="327378" y="355600"/>
                </a:lnTo>
                <a:close/>
              </a:path>
            </a:pathLst>
          </a:custGeom>
          <a:solidFill>
            <a:srgbClr val="1A3632"/>
          </a:solidFill>
          <a:ln/>
        </p:spPr>
      </p:sp>
      <p:sp>
        <p:nvSpPr>
          <p:cNvPr id="18" name="Text 16"/>
          <p:cNvSpPr/>
          <p:nvPr/>
        </p:nvSpPr>
        <p:spPr>
          <a:xfrm>
            <a:off x="7137400" y="34544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Redshift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7400" y="37846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/ Staging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50400" y="34925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0058400" y="2794000"/>
            <a:ext cx="25400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22000" y="2946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564" y="953"/>
                </a:moveTo>
                <a:cubicBezTo>
                  <a:pt x="242570" y="-2937"/>
                  <a:pt x="230082" y="4921"/>
                  <a:pt x="226624" y="18415"/>
                </a:cubicBezTo>
                <a:lnTo>
                  <a:pt x="136313" y="374015"/>
                </a:lnTo>
                <a:cubicBezTo>
                  <a:pt x="132856" y="387509"/>
                  <a:pt x="139841" y="401558"/>
                  <a:pt x="151836" y="405448"/>
                </a:cubicBezTo>
                <a:cubicBezTo>
                  <a:pt x="163830" y="409337"/>
                  <a:pt x="176318" y="401479"/>
                  <a:pt x="179776" y="387985"/>
                </a:cubicBezTo>
                <a:lnTo>
                  <a:pt x="270087" y="32385"/>
                </a:lnTo>
                <a:cubicBezTo>
                  <a:pt x="273544" y="18891"/>
                  <a:pt x="266559" y="4842"/>
                  <a:pt x="254564" y="953"/>
                </a:cubicBezTo>
                <a:close/>
                <a:moveTo>
                  <a:pt x="300143" y="108982"/>
                </a:moveTo>
                <a:cubicBezTo>
                  <a:pt x="291324" y="118904"/>
                  <a:pt x="291324" y="135017"/>
                  <a:pt x="300143" y="144939"/>
                </a:cubicBezTo>
                <a:lnTo>
                  <a:pt x="351931" y="203200"/>
                </a:lnTo>
                <a:lnTo>
                  <a:pt x="300143" y="261461"/>
                </a:lnTo>
                <a:cubicBezTo>
                  <a:pt x="291324" y="271383"/>
                  <a:pt x="291324" y="287496"/>
                  <a:pt x="300143" y="297418"/>
                </a:cubicBezTo>
                <a:cubicBezTo>
                  <a:pt x="308963" y="307340"/>
                  <a:pt x="323286" y="307340"/>
                  <a:pt x="332105" y="297418"/>
                </a:cubicBezTo>
                <a:lnTo>
                  <a:pt x="399838" y="221218"/>
                </a:lnTo>
                <a:cubicBezTo>
                  <a:pt x="408658" y="211296"/>
                  <a:pt x="408658" y="195183"/>
                  <a:pt x="399838" y="185261"/>
                </a:cubicBezTo>
                <a:lnTo>
                  <a:pt x="332105" y="109061"/>
                </a:lnTo>
                <a:cubicBezTo>
                  <a:pt x="323286" y="99139"/>
                  <a:pt x="308963" y="99139"/>
                  <a:pt x="300143" y="109061"/>
                </a:cubicBezTo>
                <a:close/>
                <a:moveTo>
                  <a:pt x="106327" y="108982"/>
                </a:moveTo>
                <a:cubicBezTo>
                  <a:pt x="97508" y="99060"/>
                  <a:pt x="83185" y="99060"/>
                  <a:pt x="74366" y="108982"/>
                </a:cubicBezTo>
                <a:lnTo>
                  <a:pt x="6632" y="185182"/>
                </a:lnTo>
                <a:cubicBezTo>
                  <a:pt x="-2187" y="195104"/>
                  <a:pt x="-2187" y="211217"/>
                  <a:pt x="6632" y="221139"/>
                </a:cubicBezTo>
                <a:lnTo>
                  <a:pt x="74366" y="297339"/>
                </a:lnTo>
                <a:cubicBezTo>
                  <a:pt x="83185" y="307261"/>
                  <a:pt x="97508" y="307261"/>
                  <a:pt x="106327" y="297339"/>
                </a:cubicBezTo>
                <a:cubicBezTo>
                  <a:pt x="115147" y="287417"/>
                  <a:pt x="115147" y="271304"/>
                  <a:pt x="106327" y="261382"/>
                </a:cubicBezTo>
                <a:lnTo>
                  <a:pt x="54539" y="203200"/>
                </a:lnTo>
                <a:lnTo>
                  <a:pt x="106257" y="144939"/>
                </a:lnTo>
                <a:cubicBezTo>
                  <a:pt x="115076" y="135017"/>
                  <a:pt x="115076" y="118904"/>
                  <a:pt x="106257" y="1089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185400" y="34544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85400" y="37846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598400" y="34925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3106400" y="2794000"/>
            <a:ext cx="22352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3868400" y="2946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14300" y="177800"/>
                </a:moveTo>
                <a:cubicBezTo>
                  <a:pt x="128349" y="177800"/>
                  <a:pt x="139700" y="189151"/>
                  <a:pt x="139700" y="203200"/>
                </a:cubicBezTo>
                <a:lnTo>
                  <a:pt x="139700" y="254000"/>
                </a:lnTo>
                <a:cubicBezTo>
                  <a:pt x="139700" y="268049"/>
                  <a:pt x="128349" y="279400"/>
                  <a:pt x="114300" y="279400"/>
                </a:cubicBezTo>
                <a:cubicBezTo>
                  <a:pt x="100251" y="279400"/>
                  <a:pt x="88900" y="268049"/>
                  <a:pt x="88900" y="254000"/>
                </a:cubicBezTo>
                <a:lnTo>
                  <a:pt x="88900" y="203200"/>
                </a:lnTo>
                <a:cubicBezTo>
                  <a:pt x="88900" y="189151"/>
                  <a:pt x="100251" y="177800"/>
                  <a:pt x="114300" y="177800"/>
                </a:cubicBezTo>
                <a:close/>
                <a:moveTo>
                  <a:pt x="228600" y="127000"/>
                </a:moveTo>
                <a:lnTo>
                  <a:pt x="228600" y="254000"/>
                </a:lnTo>
                <a:cubicBezTo>
                  <a:pt x="228600" y="268049"/>
                  <a:pt x="217249" y="279400"/>
                  <a:pt x="203200" y="279400"/>
                </a:cubicBezTo>
                <a:cubicBezTo>
                  <a:pt x="189151" y="279400"/>
                  <a:pt x="177800" y="268049"/>
                  <a:pt x="177800" y="2540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292100" y="152400"/>
                </a:moveTo>
                <a:cubicBezTo>
                  <a:pt x="306149" y="152400"/>
                  <a:pt x="317500" y="163751"/>
                  <a:pt x="317500" y="177800"/>
                </a:cubicBezTo>
                <a:lnTo>
                  <a:pt x="317500" y="254000"/>
                </a:lnTo>
                <a:cubicBezTo>
                  <a:pt x="317500" y="268049"/>
                  <a:pt x="306149" y="279400"/>
                  <a:pt x="292100" y="279400"/>
                </a:cubicBezTo>
                <a:cubicBezTo>
                  <a:pt x="278051" y="279400"/>
                  <a:pt x="266700" y="268049"/>
                  <a:pt x="266700" y="254000"/>
                </a:cubicBezTo>
                <a:lnTo>
                  <a:pt x="266700" y="177800"/>
                </a:lnTo>
                <a:cubicBezTo>
                  <a:pt x="266700" y="163751"/>
                  <a:pt x="278051" y="152400"/>
                  <a:pt x="292100" y="152400"/>
                </a:cubicBezTo>
                <a:close/>
                <a:moveTo>
                  <a:pt x="406400" y="76200"/>
                </a:moveTo>
                <a:lnTo>
                  <a:pt x="406400" y="254000"/>
                </a:lnTo>
                <a:cubicBezTo>
                  <a:pt x="406400" y="268049"/>
                  <a:pt x="395049" y="279400"/>
                  <a:pt x="381000" y="279400"/>
                </a:cubicBezTo>
                <a:cubicBezTo>
                  <a:pt x="366951" y="279400"/>
                  <a:pt x="355600" y="268049"/>
                  <a:pt x="355600" y="254000"/>
                </a:cubicBezTo>
                <a:lnTo>
                  <a:pt x="355600" y="76200"/>
                </a:lnTo>
                <a:cubicBezTo>
                  <a:pt x="355600" y="62151"/>
                  <a:pt x="366951" y="50800"/>
                  <a:pt x="381000" y="50800"/>
                </a:cubicBezTo>
                <a:cubicBezTo>
                  <a:pt x="395049" y="50800"/>
                  <a:pt x="406400" y="62151"/>
                  <a:pt x="406400" y="76200"/>
                </a:cubicBezTo>
                <a:close/>
              </a:path>
            </a:pathLst>
          </a:custGeom>
          <a:solidFill>
            <a:srgbClr val="1A3632"/>
          </a:solidFill>
          <a:ln/>
        </p:spPr>
      </p:sp>
      <p:sp>
        <p:nvSpPr>
          <p:cNvPr id="28" name="Text 26"/>
          <p:cNvSpPr/>
          <p:nvPr/>
        </p:nvSpPr>
        <p:spPr>
          <a:xfrm>
            <a:off x="13233400" y="3454400"/>
            <a:ext cx="198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QuickSight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33400" y="3784600"/>
            <a:ext cx="198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 Dashboards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4826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Three-Layer Transformation Inside Redshift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14400" y="5334000"/>
            <a:ext cx="4572000" cy="254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219200" y="5537200"/>
            <a:ext cx="396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Staging (stg_)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9200" y="5943600"/>
            <a:ext cx="39624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Clean raw DMS-loaded tables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Standardise data types and strings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Apply default values for nulls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42000" y="5334000"/>
            <a:ext cx="4572000" cy="254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146800" y="5537200"/>
            <a:ext cx="396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Intermediate (int_)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46800" y="5943600"/>
            <a:ext cx="39624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Join multiple business entities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Create business-ready wide tables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Control grain before marts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769600" y="5334000"/>
            <a:ext cx="4572000" cy="254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1074400" y="5537200"/>
            <a:ext cx="396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Marts (facts + dims)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074400" y="5943600"/>
            <a:ext cx="39624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Star schema for BI queries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Facts store measurable events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Dimensions store context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/ Tool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These Tools: Purpose-Built Selection for Each Layer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97000"/>
          <a:ext cx="14427200" cy="5334000"/>
        </p:xfrm>
        <a:graphic>
          <a:graphicData uri="http://schemas.openxmlformats.org/drawingml/2006/table">
            <a:tbl>
              <a:tblPr/>
              <a:tblGrid>
                <a:gridCol w="2596896"/>
                <a:gridCol w="3173984"/>
                <a:gridCol w="4328160"/>
                <a:gridCol w="432816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Layer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Tool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Role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Key Strength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2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Source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◆</a:t>
                      </a:r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MariaDB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Transactional OLTP database storing normalised student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Proven, fast, reliable relational engine for operational workloads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Extract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◆</a:t>
                      </a:r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AWS DMS + CDC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Continuously replicate changes from MariaDB to Redshift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Minimal latency, supports ongoing replication without downtime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◆</a:t>
                      </a:r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Redshift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Central cloud data warehouse - raw, staging, and marts layers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Scalable columnar storage, powerful SQL transformations at scale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Transform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◆</a:t>
                      </a:r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DBT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SQL-based modelling, testing, documentation, version control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Enables analytics engineering best practices inside the warehouse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5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Visualise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D9770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◆</a:t>
                      </a:r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QuickSight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 dashboards for student performance reporting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9252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Native AWS integration, serverless, interactive visualisations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112000"/>
            <a:ext cx="14427200" cy="1016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6" name="Text 3"/>
          <p:cNvSpPr/>
          <p:nvPr/>
        </p:nvSpPr>
        <p:spPr>
          <a:xfrm>
            <a:off x="1219200" y="7264400"/>
            <a:ext cx="13817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ELT Advantage: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Extract once, load raw, transform inside Redshift — enables flexibility, version control, and full testability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16000"/>
            <a:ext cx="14427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Core Contribution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510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DBT transformation layer and star-schema data modelling inside Redshift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540000"/>
            <a:ext cx="6985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7056" y="57150"/>
                  <a:pt x="6608" y="64115"/>
                  <a:pt x="2143" y="74831"/>
                </a:cubicBezTo>
                <a:cubicBezTo>
                  <a:pt x="-2322" y="85546"/>
                  <a:pt x="179" y="97780"/>
                  <a:pt x="8394" y="105906"/>
                </a:cubicBezTo>
                <a:lnTo>
                  <a:pt x="171450" y="269051"/>
                </a:lnTo>
                <a:lnTo>
                  <a:pt x="171450" y="371475"/>
                </a:lnTo>
                <a:cubicBezTo>
                  <a:pt x="171450" y="379065"/>
                  <a:pt x="174486" y="386298"/>
                  <a:pt x="179844" y="391656"/>
                </a:cubicBezTo>
                <a:lnTo>
                  <a:pt x="236994" y="448806"/>
                </a:lnTo>
                <a:cubicBezTo>
                  <a:pt x="245209" y="457021"/>
                  <a:pt x="257443" y="459432"/>
                  <a:pt x="268159" y="454968"/>
                </a:cubicBezTo>
                <a:cubicBezTo>
                  <a:pt x="278874" y="450503"/>
                  <a:pt x="285750" y="440144"/>
                  <a:pt x="285750" y="428625"/>
                </a:cubicBezTo>
                <a:lnTo>
                  <a:pt x="285750" y="269051"/>
                </a:lnTo>
                <a:lnTo>
                  <a:pt x="448806" y="105995"/>
                </a:lnTo>
                <a:cubicBezTo>
                  <a:pt x="457021" y="97780"/>
                  <a:pt x="459432" y="85546"/>
                  <a:pt x="454968" y="74831"/>
                </a:cubicBezTo>
                <a:cubicBezTo>
                  <a:pt x="450503" y="64115"/>
                  <a:pt x="440144" y="57150"/>
                  <a:pt x="428625" y="57150"/>
                </a:cubicBezTo>
                <a:lnTo>
                  <a:pt x="28575" y="5715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454400"/>
            <a:ext cx="6375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Layers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19200" y="3962400"/>
            <a:ext cx="6375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Staging: clean and standardise raw data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Intermediate: join entities, control grain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Marts: star schema for BI consumption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56600" y="2540000"/>
            <a:ext cx="6985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0" name="Shape 8"/>
          <p:cNvSpPr/>
          <p:nvPr/>
        </p:nvSpPr>
        <p:spPr>
          <a:xfrm>
            <a:off x="86614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5666" y="-16877"/>
                </a:moveTo>
                <a:cubicBezTo>
                  <a:pt x="242411" y="-24021"/>
                  <a:pt x="235823" y="-28575"/>
                  <a:pt x="228679" y="-28575"/>
                </a:cubicBezTo>
                <a:cubicBezTo>
                  <a:pt x="221536" y="-28575"/>
                  <a:pt x="214948" y="-24021"/>
                  <a:pt x="211693" y="-16877"/>
                </a:cubicBezTo>
                <a:lnTo>
                  <a:pt x="153273" y="111889"/>
                </a:lnTo>
                <a:lnTo>
                  <a:pt x="26353" y="134570"/>
                </a:lnTo>
                <a:cubicBezTo>
                  <a:pt x="19288" y="135821"/>
                  <a:pt x="13414" y="141446"/>
                  <a:pt x="11192" y="149126"/>
                </a:cubicBezTo>
                <a:cubicBezTo>
                  <a:pt x="8969" y="156805"/>
                  <a:pt x="10795" y="165199"/>
                  <a:pt x="15796" y="170914"/>
                </a:cubicBezTo>
                <a:lnTo>
                  <a:pt x="106601" y="273159"/>
                </a:lnTo>
                <a:lnTo>
                  <a:pt x="86598" y="415945"/>
                </a:lnTo>
                <a:cubicBezTo>
                  <a:pt x="85487" y="423892"/>
                  <a:pt x="88424" y="431929"/>
                  <a:pt x="94218" y="436662"/>
                </a:cubicBezTo>
                <a:cubicBezTo>
                  <a:pt x="100013" y="441394"/>
                  <a:pt x="107633" y="442109"/>
                  <a:pt x="114062" y="438448"/>
                </a:cubicBezTo>
                <a:lnTo>
                  <a:pt x="228679" y="372904"/>
                </a:lnTo>
                <a:lnTo>
                  <a:pt x="343218" y="438448"/>
                </a:lnTo>
                <a:cubicBezTo>
                  <a:pt x="349568" y="442109"/>
                  <a:pt x="357267" y="441394"/>
                  <a:pt x="363061" y="436662"/>
                </a:cubicBezTo>
                <a:cubicBezTo>
                  <a:pt x="368856" y="431929"/>
                  <a:pt x="371793" y="423982"/>
                  <a:pt x="370681" y="415945"/>
                </a:cubicBezTo>
                <a:lnTo>
                  <a:pt x="350599" y="273159"/>
                </a:lnTo>
                <a:lnTo>
                  <a:pt x="441404" y="170914"/>
                </a:lnTo>
                <a:cubicBezTo>
                  <a:pt x="446484" y="165199"/>
                  <a:pt x="448231" y="156805"/>
                  <a:pt x="446008" y="149126"/>
                </a:cubicBezTo>
                <a:cubicBezTo>
                  <a:pt x="443786" y="141446"/>
                  <a:pt x="437991" y="135821"/>
                  <a:pt x="430847" y="134570"/>
                </a:cubicBezTo>
                <a:lnTo>
                  <a:pt x="304006" y="111889"/>
                </a:lnTo>
                <a:lnTo>
                  <a:pt x="245666" y="-16877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661400" y="3454400"/>
            <a:ext cx="6375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Schema Design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61400" y="3962400"/>
            <a:ext cx="6375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4 dimension tables for context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 fact tables for measurable events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Optimised for fast BI queries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Contribution / Staging &amp; Intermediate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Staging &amp; Intermediate: Cleaning, Standardising, Joining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Staging Layer (stg_)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905000"/>
            <a:ext cx="6858000" cy="149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057400"/>
            <a:ext cx="6248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type standardisation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casts to bigint, decimal, timestamp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 cleaning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trim, lower, null handling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454400"/>
            <a:ext cx="68580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3606800"/>
            <a:ext cx="62484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values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-99 for missing IDs, 0 for counts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 defaults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'n/a' for null text fields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902200"/>
            <a:ext cx="68580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5054600"/>
            <a:ext cx="62484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raw DMS-loaded tables from MariaDB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clean, typed, validated staging models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28000" y="1397000"/>
            <a:ext cx="0" cy="5334000"/>
          </a:xfrm>
          <a:prstGeom prst="straightConnector1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534400" y="1397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Intermediate Layer (int_)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534400" y="1905000"/>
            <a:ext cx="6807200" cy="149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839200" y="2057400"/>
            <a:ext cx="6197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Entity joins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students, classes, assessments, programmes, content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business-ready wide tables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534400" y="3454400"/>
            <a:ext cx="68072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839200" y="3505200"/>
            <a:ext cx="6197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student + assessment + class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Produces full performance view per student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34400" y="4902200"/>
            <a:ext cx="68072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839200" y="5054600"/>
            <a:ext cx="6197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Grain control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explicit grain definition before marts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duplication in downstream fact tables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6604000"/>
            <a:ext cx="14427200" cy="1270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6807200"/>
            <a:ext cx="13817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layer progressively increases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readiness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from raw ingestion to analytics-ready output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Contribution / Star Schema Marts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Schema Marts: Facts &amp; Dimensions for Fast BI Queries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 Tables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778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context for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09800"/>
            <a:ext cx="3429000" cy="1651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7" name="Shape 5"/>
          <p:cNvSpPr/>
          <p:nvPr/>
        </p:nvSpPr>
        <p:spPr>
          <a:xfrm>
            <a:off x="12192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1532" y="-9029"/>
                </a:moveTo>
                <a:cubicBezTo>
                  <a:pt x="182483" y="-10626"/>
                  <a:pt x="173196" y="-10626"/>
                  <a:pt x="164148" y="-9029"/>
                </a:cubicBezTo>
                <a:lnTo>
                  <a:pt x="15319" y="17016"/>
                </a:lnTo>
                <a:cubicBezTo>
                  <a:pt x="6429" y="18544"/>
                  <a:pt x="0" y="25420"/>
                  <a:pt x="0" y="33337"/>
                </a:cubicBezTo>
                <a:cubicBezTo>
                  <a:pt x="0" y="40491"/>
                  <a:pt x="5159" y="46742"/>
                  <a:pt x="12700" y="49034"/>
                </a:cubicBezTo>
                <a:lnTo>
                  <a:pt x="12700" y="100013"/>
                </a:lnTo>
                <a:lnTo>
                  <a:pt x="238" y="154603"/>
                </a:lnTo>
                <a:cubicBezTo>
                  <a:pt x="79" y="155228"/>
                  <a:pt x="0" y="155922"/>
                  <a:pt x="0" y="156617"/>
                </a:cubicBezTo>
                <a:cubicBezTo>
                  <a:pt x="0" y="162173"/>
                  <a:pt x="5159" y="166757"/>
                  <a:pt x="11589" y="166757"/>
                </a:cubicBezTo>
                <a:lnTo>
                  <a:pt x="39291" y="166757"/>
                </a:lnTo>
                <a:cubicBezTo>
                  <a:pt x="45641" y="166757"/>
                  <a:pt x="50879" y="162243"/>
                  <a:pt x="50879" y="156617"/>
                </a:cubicBezTo>
                <a:cubicBezTo>
                  <a:pt x="50879" y="155922"/>
                  <a:pt x="50800" y="155297"/>
                  <a:pt x="50641" y="154603"/>
                </a:cubicBezTo>
                <a:lnTo>
                  <a:pt x="38100" y="100013"/>
                </a:lnTo>
                <a:lnTo>
                  <a:pt x="38100" y="53687"/>
                </a:lnTo>
                <a:lnTo>
                  <a:pt x="76200" y="60355"/>
                </a:lnTo>
                <a:lnTo>
                  <a:pt x="76200" y="100013"/>
                </a:lnTo>
                <a:cubicBezTo>
                  <a:pt x="76200" y="149116"/>
                  <a:pt x="121682" y="188913"/>
                  <a:pt x="177800" y="188913"/>
                </a:cubicBezTo>
                <a:cubicBezTo>
                  <a:pt x="233918" y="188913"/>
                  <a:pt x="279400" y="149116"/>
                  <a:pt x="279400" y="100013"/>
                </a:cubicBezTo>
                <a:lnTo>
                  <a:pt x="279400" y="60355"/>
                </a:lnTo>
                <a:lnTo>
                  <a:pt x="340281" y="49728"/>
                </a:lnTo>
                <a:cubicBezTo>
                  <a:pt x="349171" y="48131"/>
                  <a:pt x="355600" y="41255"/>
                  <a:pt x="355600" y="33337"/>
                </a:cubicBezTo>
                <a:cubicBezTo>
                  <a:pt x="355600" y="25420"/>
                  <a:pt x="349171" y="18544"/>
                  <a:pt x="340281" y="17016"/>
                </a:cubicBezTo>
                <a:lnTo>
                  <a:pt x="191532" y="-9029"/>
                </a:lnTo>
                <a:close/>
                <a:moveTo>
                  <a:pt x="177800" y="155575"/>
                </a:moveTo>
                <a:cubicBezTo>
                  <a:pt x="142716" y="155575"/>
                  <a:pt x="114300" y="130711"/>
                  <a:pt x="114300" y="100013"/>
                </a:cubicBezTo>
                <a:lnTo>
                  <a:pt x="241300" y="100013"/>
                </a:lnTo>
                <a:cubicBezTo>
                  <a:pt x="241300" y="130711"/>
                  <a:pt x="212884" y="155575"/>
                  <a:pt x="177800" y="155575"/>
                </a:cubicBezTo>
                <a:close/>
                <a:moveTo>
                  <a:pt x="95329" y="222319"/>
                </a:moveTo>
                <a:cubicBezTo>
                  <a:pt x="46593" y="241905"/>
                  <a:pt x="12700" y="284966"/>
                  <a:pt x="12700" y="334972"/>
                </a:cubicBezTo>
                <a:cubicBezTo>
                  <a:pt x="12700" y="346363"/>
                  <a:pt x="23257" y="355600"/>
                  <a:pt x="36274" y="355600"/>
                </a:cubicBezTo>
                <a:lnTo>
                  <a:pt x="158750" y="355600"/>
                </a:lnTo>
                <a:lnTo>
                  <a:pt x="158750" y="254198"/>
                </a:lnTo>
                <a:lnTo>
                  <a:pt x="113189" y="224334"/>
                </a:lnTo>
                <a:cubicBezTo>
                  <a:pt x="108029" y="220930"/>
                  <a:pt x="101124" y="220028"/>
                  <a:pt x="95250" y="222389"/>
                </a:cubicBezTo>
                <a:close/>
                <a:moveTo>
                  <a:pt x="196850" y="355600"/>
                </a:moveTo>
                <a:lnTo>
                  <a:pt x="319326" y="355600"/>
                </a:lnTo>
                <a:cubicBezTo>
                  <a:pt x="332343" y="355600"/>
                  <a:pt x="342900" y="346363"/>
                  <a:pt x="342900" y="334972"/>
                </a:cubicBezTo>
                <a:cubicBezTo>
                  <a:pt x="342900" y="284966"/>
                  <a:pt x="309007" y="241905"/>
                  <a:pt x="260271" y="222389"/>
                </a:cubicBezTo>
                <a:cubicBezTo>
                  <a:pt x="254397" y="220028"/>
                  <a:pt x="247491" y="220930"/>
                  <a:pt x="242332" y="224334"/>
                </a:cubicBezTo>
                <a:lnTo>
                  <a:pt x="196771" y="254198"/>
                </a:lnTo>
                <a:lnTo>
                  <a:pt x="196771" y="3556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676400" y="24130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dim_students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9200" y="2844800"/>
            <a:ext cx="2870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demographics, enrolment status, programme affiliation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97400" y="2209800"/>
            <a:ext cx="3429000" cy="1651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1" name="Shape 9"/>
          <p:cNvSpPr/>
          <p:nvPr/>
        </p:nvSpPr>
        <p:spPr>
          <a:xfrm>
            <a:off x="49022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33350"/>
                </a:moveTo>
                <a:cubicBezTo>
                  <a:pt x="0" y="108833"/>
                  <a:pt x="17718" y="88900"/>
                  <a:pt x="39511" y="88900"/>
                </a:cubicBezTo>
                <a:lnTo>
                  <a:pt x="79022" y="88900"/>
                </a:lnTo>
                <a:lnTo>
                  <a:pt x="157983" y="8959"/>
                </a:lnTo>
                <a:cubicBezTo>
                  <a:pt x="169280" y="-2431"/>
                  <a:pt x="186381" y="-2431"/>
                  <a:pt x="197617" y="8959"/>
                </a:cubicBezTo>
                <a:lnTo>
                  <a:pt x="276578" y="88900"/>
                </a:lnTo>
                <a:lnTo>
                  <a:pt x="316089" y="88900"/>
                </a:lnTo>
                <a:cubicBezTo>
                  <a:pt x="337882" y="88900"/>
                  <a:pt x="355600" y="108833"/>
                  <a:pt x="355600" y="133350"/>
                </a:cubicBezTo>
                <a:lnTo>
                  <a:pt x="355600" y="311150"/>
                </a:lnTo>
                <a:cubicBezTo>
                  <a:pt x="355600" y="335667"/>
                  <a:pt x="337882" y="355600"/>
                  <a:pt x="316089" y="355600"/>
                </a:cubicBezTo>
                <a:lnTo>
                  <a:pt x="39511" y="355600"/>
                </a:lnTo>
                <a:cubicBezTo>
                  <a:pt x="17718" y="355600"/>
                  <a:pt x="0" y="335667"/>
                  <a:pt x="0" y="311150"/>
                </a:cubicBezTo>
                <a:lnTo>
                  <a:pt x="0" y="133350"/>
                </a:lnTo>
                <a:close/>
                <a:moveTo>
                  <a:pt x="138289" y="261144"/>
                </a:moveTo>
                <a:lnTo>
                  <a:pt x="138289" y="322263"/>
                </a:lnTo>
                <a:lnTo>
                  <a:pt x="217311" y="322263"/>
                </a:lnTo>
                <a:lnTo>
                  <a:pt x="217311" y="261144"/>
                </a:lnTo>
                <a:cubicBezTo>
                  <a:pt x="217311" y="245795"/>
                  <a:pt x="206260" y="233363"/>
                  <a:pt x="192617" y="233363"/>
                </a:cubicBezTo>
                <a:lnTo>
                  <a:pt x="162983" y="233363"/>
                </a:lnTo>
                <a:cubicBezTo>
                  <a:pt x="149340" y="233363"/>
                  <a:pt x="138289" y="245795"/>
                  <a:pt x="138289" y="261144"/>
                </a:cubicBezTo>
                <a:close/>
                <a:moveTo>
                  <a:pt x="69144" y="266700"/>
                </a:moveTo>
                <a:cubicBezTo>
                  <a:pt x="74577" y="266700"/>
                  <a:pt x="79022" y="261699"/>
                  <a:pt x="79022" y="255587"/>
                </a:cubicBezTo>
                <a:lnTo>
                  <a:pt x="79022" y="233363"/>
                </a:lnTo>
                <a:cubicBezTo>
                  <a:pt x="79022" y="227251"/>
                  <a:pt x="74577" y="222250"/>
                  <a:pt x="69144" y="222250"/>
                </a:cubicBezTo>
                <a:lnTo>
                  <a:pt x="49389" y="222250"/>
                </a:lnTo>
                <a:cubicBezTo>
                  <a:pt x="43956" y="222250"/>
                  <a:pt x="39511" y="227251"/>
                  <a:pt x="39511" y="233363"/>
                </a:cubicBezTo>
                <a:lnTo>
                  <a:pt x="39511" y="255587"/>
                </a:lnTo>
                <a:cubicBezTo>
                  <a:pt x="39511" y="261699"/>
                  <a:pt x="43956" y="266700"/>
                  <a:pt x="49389" y="266700"/>
                </a:cubicBezTo>
                <a:lnTo>
                  <a:pt x="69144" y="266700"/>
                </a:lnTo>
                <a:close/>
                <a:moveTo>
                  <a:pt x="79022" y="166688"/>
                </a:moveTo>
                <a:lnTo>
                  <a:pt x="79022" y="144463"/>
                </a:lnTo>
                <a:cubicBezTo>
                  <a:pt x="79022" y="138351"/>
                  <a:pt x="74577" y="133350"/>
                  <a:pt x="69144" y="133350"/>
                </a:cubicBezTo>
                <a:lnTo>
                  <a:pt x="49389" y="133350"/>
                </a:lnTo>
                <a:cubicBezTo>
                  <a:pt x="43956" y="133350"/>
                  <a:pt x="39511" y="138351"/>
                  <a:pt x="39511" y="144463"/>
                </a:cubicBezTo>
                <a:lnTo>
                  <a:pt x="39511" y="166688"/>
                </a:lnTo>
                <a:cubicBezTo>
                  <a:pt x="39511" y="172799"/>
                  <a:pt x="43956" y="177800"/>
                  <a:pt x="49389" y="177800"/>
                </a:cubicBezTo>
                <a:lnTo>
                  <a:pt x="69144" y="177800"/>
                </a:lnTo>
                <a:cubicBezTo>
                  <a:pt x="74577" y="177800"/>
                  <a:pt x="79022" y="172799"/>
                  <a:pt x="79022" y="166688"/>
                </a:cubicBezTo>
                <a:close/>
                <a:moveTo>
                  <a:pt x="306211" y="266700"/>
                </a:moveTo>
                <a:cubicBezTo>
                  <a:pt x="311644" y="266700"/>
                  <a:pt x="316089" y="261699"/>
                  <a:pt x="316089" y="255587"/>
                </a:cubicBezTo>
                <a:lnTo>
                  <a:pt x="316089" y="233363"/>
                </a:lnTo>
                <a:cubicBezTo>
                  <a:pt x="316089" y="227251"/>
                  <a:pt x="311644" y="222250"/>
                  <a:pt x="306211" y="222250"/>
                </a:cubicBezTo>
                <a:lnTo>
                  <a:pt x="286456" y="222250"/>
                </a:lnTo>
                <a:cubicBezTo>
                  <a:pt x="281023" y="222250"/>
                  <a:pt x="276578" y="227251"/>
                  <a:pt x="276578" y="233363"/>
                </a:cubicBezTo>
                <a:lnTo>
                  <a:pt x="276578" y="255587"/>
                </a:lnTo>
                <a:cubicBezTo>
                  <a:pt x="276578" y="261699"/>
                  <a:pt x="281023" y="266700"/>
                  <a:pt x="286456" y="266700"/>
                </a:cubicBezTo>
                <a:lnTo>
                  <a:pt x="306211" y="266700"/>
                </a:lnTo>
                <a:close/>
                <a:moveTo>
                  <a:pt x="316089" y="166688"/>
                </a:moveTo>
                <a:lnTo>
                  <a:pt x="316089" y="144463"/>
                </a:lnTo>
                <a:cubicBezTo>
                  <a:pt x="316089" y="138351"/>
                  <a:pt x="311644" y="133350"/>
                  <a:pt x="306211" y="133350"/>
                </a:cubicBezTo>
                <a:lnTo>
                  <a:pt x="286456" y="133350"/>
                </a:lnTo>
                <a:cubicBezTo>
                  <a:pt x="281023" y="133350"/>
                  <a:pt x="276578" y="138351"/>
                  <a:pt x="276578" y="144463"/>
                </a:cubicBezTo>
                <a:lnTo>
                  <a:pt x="276578" y="166688"/>
                </a:lnTo>
                <a:cubicBezTo>
                  <a:pt x="276578" y="172799"/>
                  <a:pt x="281023" y="177800"/>
                  <a:pt x="286456" y="177800"/>
                </a:cubicBezTo>
                <a:lnTo>
                  <a:pt x="306211" y="177800"/>
                </a:lnTo>
                <a:cubicBezTo>
                  <a:pt x="311644" y="177800"/>
                  <a:pt x="316089" y="172799"/>
                  <a:pt x="316089" y="166688"/>
                </a:cubicBezTo>
                <a:close/>
                <a:moveTo>
                  <a:pt x="177800" y="177800"/>
                </a:moveTo>
                <a:cubicBezTo>
                  <a:pt x="199607" y="177800"/>
                  <a:pt x="217311" y="157883"/>
                  <a:pt x="217311" y="133350"/>
                </a:cubicBezTo>
                <a:cubicBezTo>
                  <a:pt x="217311" y="108817"/>
                  <a:pt x="199607" y="88900"/>
                  <a:pt x="177800" y="88900"/>
                </a:cubicBezTo>
                <a:cubicBezTo>
                  <a:pt x="155993" y="88900"/>
                  <a:pt x="138289" y="108817"/>
                  <a:pt x="138289" y="133350"/>
                </a:cubicBezTo>
                <a:cubicBezTo>
                  <a:pt x="138289" y="157883"/>
                  <a:pt x="155993" y="177800"/>
                  <a:pt x="177800" y="177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5359400" y="24130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dim_classes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02200" y="2844800"/>
            <a:ext cx="287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metadata, subject areas, instructor assignments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80400" y="2209800"/>
            <a:ext cx="3429000" cy="1651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5" name="Shape 13"/>
          <p:cNvSpPr/>
          <p:nvPr/>
        </p:nvSpPr>
        <p:spPr>
          <a:xfrm>
            <a:off x="85852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4800" y="355600"/>
                </a:moveTo>
                <a:lnTo>
                  <a:pt x="76200" y="355600"/>
                </a:lnTo>
                <a:cubicBezTo>
                  <a:pt x="34131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4932"/>
                  <a:pt x="355600" y="33337"/>
                </a:cubicBezTo>
                <a:lnTo>
                  <a:pt x="355600" y="233363"/>
                </a:lnTo>
                <a:cubicBezTo>
                  <a:pt x="355600" y="247878"/>
                  <a:pt x="344964" y="260241"/>
                  <a:pt x="330200" y="264825"/>
                </a:cubicBezTo>
                <a:lnTo>
                  <a:pt x="330200" y="311150"/>
                </a:lnTo>
                <a:cubicBezTo>
                  <a:pt x="344249" y="311150"/>
                  <a:pt x="355600" y="321082"/>
                  <a:pt x="355600" y="333375"/>
                </a:cubicBezTo>
                <a:cubicBezTo>
                  <a:pt x="355600" y="345668"/>
                  <a:pt x="344249" y="355600"/>
                  <a:pt x="330200" y="355600"/>
                </a:cubicBezTo>
                <a:lnTo>
                  <a:pt x="304800" y="355600"/>
                </a:lnTo>
                <a:close/>
                <a:moveTo>
                  <a:pt x="76200" y="266700"/>
                </a:moveTo>
                <a:cubicBezTo>
                  <a:pt x="62151" y="266700"/>
                  <a:pt x="50800" y="276632"/>
                  <a:pt x="50800" y="288925"/>
                </a:cubicBezTo>
                <a:cubicBezTo>
                  <a:pt x="50800" y="301218"/>
                  <a:pt x="62151" y="311150"/>
                  <a:pt x="76200" y="311150"/>
                </a:cubicBezTo>
                <a:lnTo>
                  <a:pt x="279400" y="311150"/>
                </a:lnTo>
                <a:lnTo>
                  <a:pt x="279400" y="266700"/>
                </a:lnTo>
                <a:lnTo>
                  <a:pt x="76200" y="266700"/>
                </a:lnTo>
                <a:close/>
                <a:moveTo>
                  <a:pt x="101600" y="105569"/>
                </a:moveTo>
                <a:cubicBezTo>
                  <a:pt x="101600" y="114806"/>
                  <a:pt x="110093" y="122238"/>
                  <a:pt x="120650" y="122238"/>
                </a:cubicBezTo>
                <a:lnTo>
                  <a:pt x="260350" y="122238"/>
                </a:lnTo>
                <a:cubicBezTo>
                  <a:pt x="270907" y="122238"/>
                  <a:pt x="279400" y="114806"/>
                  <a:pt x="279400" y="105569"/>
                </a:cubicBezTo>
                <a:cubicBezTo>
                  <a:pt x="279400" y="96331"/>
                  <a:pt x="270907" y="88900"/>
                  <a:pt x="260350" y="88900"/>
                </a:cubicBezTo>
                <a:lnTo>
                  <a:pt x="120650" y="88900"/>
                </a:lnTo>
                <a:cubicBezTo>
                  <a:pt x="110093" y="88900"/>
                  <a:pt x="101600" y="96331"/>
                  <a:pt x="101600" y="105569"/>
                </a:cubicBezTo>
                <a:close/>
                <a:moveTo>
                  <a:pt x="120650" y="155575"/>
                </a:moveTo>
                <a:cubicBezTo>
                  <a:pt x="110093" y="155575"/>
                  <a:pt x="101600" y="163006"/>
                  <a:pt x="101600" y="172244"/>
                </a:cubicBezTo>
                <a:cubicBezTo>
                  <a:pt x="101600" y="181481"/>
                  <a:pt x="110093" y="188913"/>
                  <a:pt x="120650" y="188913"/>
                </a:cubicBezTo>
                <a:lnTo>
                  <a:pt x="260350" y="188913"/>
                </a:lnTo>
                <a:cubicBezTo>
                  <a:pt x="270907" y="188913"/>
                  <a:pt x="279400" y="181481"/>
                  <a:pt x="279400" y="172244"/>
                </a:cubicBezTo>
                <a:cubicBezTo>
                  <a:pt x="279400" y="163006"/>
                  <a:pt x="270907" y="155575"/>
                  <a:pt x="260350" y="155575"/>
                </a:cubicBezTo>
                <a:lnTo>
                  <a:pt x="120650" y="15557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042400" y="24130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dim_programmes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85200" y="2844800"/>
            <a:ext cx="287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Programme structure, levels, duration, requirements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963400" y="2209800"/>
            <a:ext cx="3378200" cy="1651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682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572" y="156686"/>
                </a:moveTo>
                <a:lnTo>
                  <a:pt x="20003" y="205720"/>
                </a:lnTo>
                <a:lnTo>
                  <a:pt x="20003" y="66675"/>
                </a:lnTo>
                <a:cubicBezTo>
                  <a:pt x="20003" y="42158"/>
                  <a:pt x="37721" y="22225"/>
                  <a:pt x="59514" y="22225"/>
                </a:cubicBezTo>
                <a:lnTo>
                  <a:pt x="145142" y="22225"/>
                </a:lnTo>
                <a:cubicBezTo>
                  <a:pt x="153661" y="22225"/>
                  <a:pt x="161996" y="25350"/>
                  <a:pt x="168848" y="31115"/>
                </a:cubicBezTo>
                <a:lnTo>
                  <a:pt x="192555" y="51117"/>
                </a:lnTo>
                <a:cubicBezTo>
                  <a:pt x="195950" y="54035"/>
                  <a:pt x="200148" y="55563"/>
                  <a:pt x="204408" y="55563"/>
                </a:cubicBezTo>
                <a:lnTo>
                  <a:pt x="276825" y="55563"/>
                </a:lnTo>
                <a:cubicBezTo>
                  <a:pt x="298618" y="55563"/>
                  <a:pt x="316336" y="75496"/>
                  <a:pt x="316336" y="100013"/>
                </a:cubicBezTo>
                <a:lnTo>
                  <a:pt x="316336" y="111125"/>
                </a:lnTo>
                <a:lnTo>
                  <a:pt x="90752" y="111125"/>
                </a:lnTo>
                <a:cubicBezTo>
                  <a:pt x="65255" y="111125"/>
                  <a:pt x="42598" y="129461"/>
                  <a:pt x="34510" y="156686"/>
                </a:cubicBezTo>
                <a:close/>
                <a:moveTo>
                  <a:pt x="294975" y="311150"/>
                </a:moveTo>
                <a:lnTo>
                  <a:pt x="61119" y="311150"/>
                </a:lnTo>
                <a:cubicBezTo>
                  <a:pt x="40869" y="311150"/>
                  <a:pt x="26608" y="288856"/>
                  <a:pt x="33029" y="267256"/>
                </a:cubicBezTo>
                <a:lnTo>
                  <a:pt x="62662" y="167243"/>
                </a:lnTo>
                <a:cubicBezTo>
                  <a:pt x="66675" y="153630"/>
                  <a:pt x="78034" y="144463"/>
                  <a:pt x="90752" y="144463"/>
                </a:cubicBezTo>
                <a:lnTo>
                  <a:pt x="324608" y="144463"/>
                </a:lnTo>
                <a:cubicBezTo>
                  <a:pt x="344858" y="144463"/>
                  <a:pt x="359119" y="166757"/>
                  <a:pt x="352698" y="188357"/>
                </a:cubicBezTo>
                <a:lnTo>
                  <a:pt x="323065" y="288369"/>
                </a:lnTo>
                <a:cubicBezTo>
                  <a:pt x="319052" y="301982"/>
                  <a:pt x="307693" y="311150"/>
                  <a:pt x="294975" y="3111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2725400" y="24130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dim_content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268200" y="2844800"/>
            <a:ext cx="2819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materials, class structures, content types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241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 Tables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46228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Measurable events and performance metrics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054600"/>
            <a:ext cx="46990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19200" y="5257800"/>
            <a:ext cx="4089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fact_student_assessments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19200" y="5664200"/>
            <a:ext cx="4089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Scores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Attempts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Submission timestamps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67400" y="5054600"/>
            <a:ext cx="46990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5257800"/>
            <a:ext cx="4089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fact_student_activity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72200" y="5664200"/>
            <a:ext cx="4089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Durations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Completion status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Engagement metrics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820400" y="5054600"/>
            <a:ext cx="45212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125200" y="5257800"/>
            <a:ext cx="3911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fact_performance_metrics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125200" y="5664200"/>
            <a:ext cx="3911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Aggregated scores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Progress indicators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Ranking metrics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14400" y="7493000"/>
            <a:ext cx="14427200" cy="762000"/>
          </a:xfrm>
          <a:prstGeom prst="rect">
            <a:avLst/>
          </a:prstGeom>
          <a:solidFill>
            <a:srgbClr val="E1E7E5"/>
          </a:solidFill>
          <a:ln/>
        </p:spPr>
      </p:sp>
      <p:sp>
        <p:nvSpPr>
          <p:cNvPr id="34" name="Text 32"/>
          <p:cNvSpPr/>
          <p:nvPr/>
        </p:nvSpPr>
        <p:spPr>
          <a:xfrm>
            <a:off x="1219200" y="7620000"/>
            <a:ext cx="1381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 schema enables fast, predictable BI queries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dimensions provide context, facts provide measurability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&amp;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16000"/>
            <a:ext cx="14427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Scale &amp;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510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handling multiple interconnected tables with near real-time CDC ingestion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3048000"/>
            <a:ext cx="39624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19200" y="39370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 Types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9200" y="44450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Students, classes, assessments, programmes, and content tables ingested from MariaDB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0" name="Text 8"/>
          <p:cNvSpPr/>
          <p:nvPr/>
        </p:nvSpPr>
        <p:spPr>
          <a:xfrm>
            <a:off x="6146800" y="3048000"/>
            <a:ext cx="39624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CDC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46800" y="39370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Near Real-Time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46800" y="44450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replication ensures data is always fresh without expensive full reloads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696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74400" y="3048000"/>
            <a:ext cx="39624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3x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1074400" y="39370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Layers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074400" y="44450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Staging, intermediate, and marts layers progressively refine data quality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&amp; Metrics / Pipeline Complexity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620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524000"/>
            <a:ext cx="660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Entities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Students, Classes, Assessments, Programmes, Content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75000"/>
            <a:ext cx="660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Layers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937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Staging, Intermediate, Marts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826000"/>
            <a:ext cx="660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Models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14400" y="5588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Dimensions + 3 Fact Tables in Star Schema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34400" y="7620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Complexity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34400" y="1397000"/>
            <a:ext cx="6807200" cy="190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839200" y="1549400"/>
            <a:ext cx="619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Many-to-Many Relationships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39200" y="1930400"/>
            <a:ext cx="6197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enrol in multiple classes. Classes contain multiple assessments. Assessments map to various content. Careful join design required to avoid Cartesian products.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34400" y="3556000"/>
            <a:ext cx="6807200" cy="190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839200" y="3708400"/>
            <a:ext cx="619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Incremental Refresh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39200" y="4089400"/>
            <a:ext cx="6197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CDC captures only changed rows. DBT incremental models process deltas. Full reloads avoided entirely — pipeline scales with data volume, not table size.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34400" y="5715000"/>
            <a:ext cx="68072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839200" y="5867400"/>
            <a:ext cx="6197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Volume Coverage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39200" y="6299200"/>
            <a:ext cx="6197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records, assessment submissions, activity logs, class and programme mappings — all continuously synced and transformed.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Challenges &amp; Failures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16000"/>
            <a:ext cx="14427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Key Challenges &amp; Failures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510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critical challenges overcome through systematic debugging and process improvement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8847" y="204043"/>
                </a:moveTo>
                <a:cubicBezTo>
                  <a:pt x="70723" y="120997"/>
                  <a:pt x="142250" y="57150"/>
                  <a:pt x="228600" y="57150"/>
                </a:cubicBezTo>
                <a:cubicBezTo>
                  <a:pt x="275927" y="57150"/>
                  <a:pt x="318790" y="76349"/>
                  <a:pt x="349865" y="107335"/>
                </a:cubicBezTo>
                <a:cubicBezTo>
                  <a:pt x="350044" y="107513"/>
                  <a:pt x="350222" y="107692"/>
                  <a:pt x="350401" y="107871"/>
                </a:cubicBezTo>
                <a:lnTo>
                  <a:pt x="357188" y="114300"/>
                </a:lnTo>
                <a:lnTo>
                  <a:pt x="314414" y="114300"/>
                </a:lnTo>
                <a:cubicBezTo>
                  <a:pt x="298609" y="114300"/>
                  <a:pt x="285839" y="127069"/>
                  <a:pt x="285839" y="142875"/>
                </a:cubicBezTo>
                <a:cubicBezTo>
                  <a:pt x="285839" y="158681"/>
                  <a:pt x="298609" y="171450"/>
                  <a:pt x="314414" y="171450"/>
                </a:cubicBezTo>
                <a:lnTo>
                  <a:pt x="428714" y="171450"/>
                </a:lnTo>
                <a:cubicBezTo>
                  <a:pt x="444520" y="171450"/>
                  <a:pt x="457289" y="158681"/>
                  <a:pt x="457289" y="142875"/>
                </a:cubicBezTo>
                <a:lnTo>
                  <a:pt x="457289" y="28575"/>
                </a:lnTo>
                <a:cubicBezTo>
                  <a:pt x="457289" y="12769"/>
                  <a:pt x="444520" y="0"/>
                  <a:pt x="428714" y="0"/>
                </a:cubicBezTo>
                <a:cubicBezTo>
                  <a:pt x="412909" y="0"/>
                  <a:pt x="400139" y="12769"/>
                  <a:pt x="400139" y="28575"/>
                </a:cubicBezTo>
                <a:lnTo>
                  <a:pt x="400139" y="76260"/>
                </a:lnTo>
                <a:lnTo>
                  <a:pt x="390049" y="66705"/>
                </a:lnTo>
                <a:cubicBezTo>
                  <a:pt x="348704" y="25539"/>
                  <a:pt x="29155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lose/>
                <a:moveTo>
                  <a:pt x="454878" y="261193"/>
                </a:moveTo>
                <a:cubicBezTo>
                  <a:pt x="457111" y="245566"/>
                  <a:pt x="446216" y="231100"/>
                  <a:pt x="430679" y="228868"/>
                </a:cubicBezTo>
                <a:cubicBezTo>
                  <a:pt x="415141" y="226635"/>
                  <a:pt x="400586" y="237530"/>
                  <a:pt x="398353" y="253067"/>
                </a:cubicBezTo>
                <a:cubicBezTo>
                  <a:pt x="386477" y="336113"/>
                  <a:pt x="314950" y="399961"/>
                  <a:pt x="228600" y="399961"/>
                </a:cubicBezTo>
                <a:cubicBezTo>
                  <a:pt x="181273" y="399961"/>
                  <a:pt x="138410" y="380762"/>
                  <a:pt x="107335" y="349776"/>
                </a:cubicBezTo>
                <a:cubicBezTo>
                  <a:pt x="107156" y="349597"/>
                  <a:pt x="106978" y="349419"/>
                  <a:pt x="106799" y="349240"/>
                </a:cubicBezTo>
                <a:lnTo>
                  <a:pt x="100012" y="342811"/>
                </a:lnTo>
                <a:lnTo>
                  <a:pt x="142786" y="342811"/>
                </a:lnTo>
                <a:cubicBezTo>
                  <a:pt x="158591" y="342811"/>
                  <a:pt x="171361" y="330041"/>
                  <a:pt x="171361" y="314236"/>
                </a:cubicBezTo>
                <a:cubicBezTo>
                  <a:pt x="171361" y="298430"/>
                  <a:pt x="158591" y="285661"/>
                  <a:pt x="142786" y="285661"/>
                </a:cubicBezTo>
                <a:lnTo>
                  <a:pt x="28575" y="285750"/>
                </a:lnTo>
                <a:cubicBezTo>
                  <a:pt x="20985" y="285750"/>
                  <a:pt x="13662" y="288786"/>
                  <a:pt x="8305" y="294233"/>
                </a:cubicBezTo>
                <a:cubicBezTo>
                  <a:pt x="2947" y="299680"/>
                  <a:pt x="-89" y="306913"/>
                  <a:pt x="0" y="314593"/>
                </a:cubicBezTo>
                <a:lnTo>
                  <a:pt x="893" y="428000"/>
                </a:lnTo>
                <a:cubicBezTo>
                  <a:pt x="982" y="443805"/>
                  <a:pt x="13930" y="456486"/>
                  <a:pt x="29736" y="456307"/>
                </a:cubicBezTo>
                <a:cubicBezTo>
                  <a:pt x="45541" y="456128"/>
                  <a:pt x="58222" y="443270"/>
                  <a:pt x="58043" y="427464"/>
                </a:cubicBezTo>
                <a:lnTo>
                  <a:pt x="57686" y="381476"/>
                </a:lnTo>
                <a:lnTo>
                  <a:pt x="67241" y="390495"/>
                </a:lnTo>
                <a:cubicBezTo>
                  <a:pt x="108585" y="431661"/>
                  <a:pt x="16564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CDC Inconsistencies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9200" y="3962400"/>
            <a:ext cx="3962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updates and deletes were not immediately reflected in Redshift, causing stale data in downstream models.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0" name="Shape 8"/>
          <p:cNvSpPr/>
          <p:nvPr/>
        </p:nvSpPr>
        <p:spPr>
          <a:xfrm>
            <a:off x="61468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1468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Issues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46800" y="3962400"/>
            <a:ext cx="3962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 values in key fields and inconsistent data types between MariaDB and Redshift broke downstream joins.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696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744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400" y="106620"/>
                </a:moveTo>
                <a:cubicBezTo>
                  <a:pt x="10239" y="96798"/>
                  <a:pt x="0" y="78313"/>
                  <a:pt x="0" y="57150"/>
                </a:cubicBezTo>
                <a:cubicBezTo>
                  <a:pt x="0" y="25628"/>
                  <a:pt x="22781" y="0"/>
                  <a:pt x="50800" y="0"/>
                </a:cubicBezTo>
                <a:cubicBezTo>
                  <a:pt x="69612" y="0"/>
                  <a:pt x="86043" y="11519"/>
                  <a:pt x="94774" y="28575"/>
                </a:cubicBezTo>
                <a:lnTo>
                  <a:pt x="362347" y="28575"/>
                </a:lnTo>
                <a:cubicBezTo>
                  <a:pt x="371158" y="11519"/>
                  <a:pt x="387509" y="0"/>
                  <a:pt x="406321" y="0"/>
                </a:cubicBezTo>
                <a:cubicBezTo>
                  <a:pt x="434340" y="0"/>
                  <a:pt x="457121" y="25628"/>
                  <a:pt x="457121" y="57150"/>
                </a:cubicBezTo>
                <a:cubicBezTo>
                  <a:pt x="457121" y="78313"/>
                  <a:pt x="446881" y="96798"/>
                  <a:pt x="431721" y="106620"/>
                </a:cubicBezTo>
                <a:lnTo>
                  <a:pt x="431721" y="350490"/>
                </a:lnTo>
                <a:cubicBezTo>
                  <a:pt x="446881" y="360402"/>
                  <a:pt x="457121" y="378797"/>
                  <a:pt x="457121" y="399961"/>
                </a:cubicBezTo>
                <a:cubicBezTo>
                  <a:pt x="457121" y="431483"/>
                  <a:pt x="434340" y="457111"/>
                  <a:pt x="406321" y="457111"/>
                </a:cubicBezTo>
                <a:cubicBezTo>
                  <a:pt x="387509" y="457111"/>
                  <a:pt x="371078" y="445591"/>
                  <a:pt x="362347" y="428536"/>
                </a:cubicBezTo>
                <a:lnTo>
                  <a:pt x="94774" y="428536"/>
                </a:lnTo>
                <a:cubicBezTo>
                  <a:pt x="85963" y="445591"/>
                  <a:pt x="69612" y="457111"/>
                  <a:pt x="50800" y="457111"/>
                </a:cubicBezTo>
                <a:cubicBezTo>
                  <a:pt x="22781" y="457111"/>
                  <a:pt x="0" y="431483"/>
                  <a:pt x="0" y="399961"/>
                </a:cubicBezTo>
                <a:cubicBezTo>
                  <a:pt x="0" y="378797"/>
                  <a:pt x="10239" y="360313"/>
                  <a:pt x="25400" y="350490"/>
                </a:cubicBezTo>
                <a:lnTo>
                  <a:pt x="25400" y="106620"/>
                </a:lnTo>
                <a:close/>
                <a:moveTo>
                  <a:pt x="381000" y="106620"/>
                </a:moveTo>
                <a:cubicBezTo>
                  <a:pt x="373301" y="101620"/>
                  <a:pt x="366871" y="94387"/>
                  <a:pt x="362426" y="85725"/>
                </a:cubicBezTo>
                <a:lnTo>
                  <a:pt x="94774" y="85725"/>
                </a:lnTo>
                <a:cubicBezTo>
                  <a:pt x="90329" y="94387"/>
                  <a:pt x="83899" y="101620"/>
                  <a:pt x="76200" y="106620"/>
                </a:cubicBezTo>
                <a:lnTo>
                  <a:pt x="76200" y="350490"/>
                </a:lnTo>
                <a:cubicBezTo>
                  <a:pt x="83899" y="355491"/>
                  <a:pt x="90329" y="362724"/>
                  <a:pt x="94774" y="371386"/>
                </a:cubicBezTo>
                <a:lnTo>
                  <a:pt x="362347" y="371386"/>
                </a:lnTo>
                <a:cubicBezTo>
                  <a:pt x="366792" y="362724"/>
                  <a:pt x="373221" y="355491"/>
                  <a:pt x="380921" y="350490"/>
                </a:cubicBezTo>
                <a:lnTo>
                  <a:pt x="380921" y="106620"/>
                </a:lnTo>
                <a:close/>
                <a:moveTo>
                  <a:pt x="114300" y="157163"/>
                </a:moveTo>
                <a:cubicBezTo>
                  <a:pt x="114300" y="141357"/>
                  <a:pt x="125651" y="128588"/>
                  <a:pt x="139700" y="128588"/>
                </a:cubicBezTo>
                <a:lnTo>
                  <a:pt x="228600" y="128588"/>
                </a:lnTo>
                <a:cubicBezTo>
                  <a:pt x="242649" y="128588"/>
                  <a:pt x="254000" y="141357"/>
                  <a:pt x="254000" y="157163"/>
                </a:cubicBezTo>
                <a:lnTo>
                  <a:pt x="254000" y="214313"/>
                </a:lnTo>
                <a:cubicBezTo>
                  <a:pt x="254000" y="230118"/>
                  <a:pt x="242649" y="242888"/>
                  <a:pt x="228600" y="242888"/>
                </a:cubicBezTo>
                <a:lnTo>
                  <a:pt x="139700" y="242888"/>
                </a:lnTo>
                <a:cubicBezTo>
                  <a:pt x="125651" y="242888"/>
                  <a:pt x="114300" y="230118"/>
                  <a:pt x="114300" y="214313"/>
                </a:cubicBezTo>
                <a:lnTo>
                  <a:pt x="114300" y="157163"/>
                </a:lnTo>
                <a:close/>
                <a:moveTo>
                  <a:pt x="203200" y="285750"/>
                </a:moveTo>
                <a:lnTo>
                  <a:pt x="228600" y="285750"/>
                </a:lnTo>
                <a:cubicBezTo>
                  <a:pt x="263684" y="285750"/>
                  <a:pt x="292100" y="253782"/>
                  <a:pt x="292100" y="214313"/>
                </a:cubicBezTo>
                <a:lnTo>
                  <a:pt x="317500" y="214313"/>
                </a:lnTo>
                <a:cubicBezTo>
                  <a:pt x="331549" y="214313"/>
                  <a:pt x="342900" y="227082"/>
                  <a:pt x="342900" y="242888"/>
                </a:cubicBezTo>
                <a:lnTo>
                  <a:pt x="342900" y="300038"/>
                </a:lnTo>
                <a:cubicBezTo>
                  <a:pt x="342900" y="315843"/>
                  <a:pt x="331549" y="328613"/>
                  <a:pt x="317500" y="328613"/>
                </a:cubicBezTo>
                <a:lnTo>
                  <a:pt x="228600" y="328613"/>
                </a:lnTo>
                <a:cubicBezTo>
                  <a:pt x="214551" y="328613"/>
                  <a:pt x="203200" y="315843"/>
                  <a:pt x="203200" y="300038"/>
                </a:cubicBezTo>
                <a:lnTo>
                  <a:pt x="203200" y="28575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10744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Granularity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074400" y="39624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Incorrect join keys caused row duplication in fact tables, inflating metrics and breaking aggregations.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/ CDC &amp; 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CDC Gaps and Data Quality Issues Resolved with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397000"/>
            <a:ext cx="14427200" cy="762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498600"/>
            <a:ext cx="1381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1: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CDC inconsistencies — some updates/deletes not immediately reflected in Redshift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36800"/>
            <a:ext cx="144272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489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 Applied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9200" y="2844800"/>
            <a:ext cx="1381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Revalidated row counts between source and target after each sync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Added reconciliation queries in DBT to detect mismatches automatically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Improved monitoring of replication lag with CloudWatch alerts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191000"/>
            <a:ext cx="14427200" cy="762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4292600"/>
            <a:ext cx="1381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2: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quality — NULL values in key fields, inconsistent types between MariaDB and Redshift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5384800"/>
            <a:ext cx="144272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5537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 Applied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9200" y="5892800"/>
            <a:ext cx="1381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DBT tests: not_null, unique, and relationships on every key column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Standardised casting in staging models (bigint, decimal, timestamp)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Default values: -99 for missing IDs, 0 for counts, 'n/a' for strings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7366000"/>
            <a:ext cx="14427200" cy="1016000"/>
          </a:xfrm>
          <a:prstGeom prst="rect">
            <a:avLst/>
          </a:prstGeom>
          <a:solidFill>
            <a:srgbClr val="E1E7E5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7518400"/>
            <a:ext cx="13817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challenges required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monitoring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testing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prevent recurrence — now built into every model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/ Join Complexity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Granularity Reworked to Eliminate Duplication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905000"/>
            <a:ext cx="6858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057400"/>
            <a:ext cx="6248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Fact tables were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duplicating rows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due to incorrect join granularity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Join keys not aligned with fact table grain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505200"/>
            <a:ext cx="6858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3657600"/>
            <a:ext cx="6248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Root cause: many-to-many relationships (students ↔ classes ↔ assessments) producing Cartesian products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5105400"/>
            <a:ext cx="6858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5257800"/>
            <a:ext cx="6248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Impact: inflated metrics, broken aggregations, untrustworthy BI reports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28000" y="1397000"/>
            <a:ext cx="0" cy="5334000"/>
          </a:xfrm>
          <a:prstGeom prst="straightConnector1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874000" y="6858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344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34400" y="1905000"/>
            <a:ext cx="6807200" cy="1397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5" name="Text 13"/>
          <p:cNvSpPr/>
          <p:nvPr/>
        </p:nvSpPr>
        <p:spPr>
          <a:xfrm>
            <a:off x="8839200" y="2057400"/>
            <a:ext cx="61976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Reworked join keys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match event-level grain explicitly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Introduced intermediate layer to control grain before marts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34400" y="3505200"/>
            <a:ext cx="6807200" cy="1397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7" name="Text 15"/>
          <p:cNvSpPr/>
          <p:nvPr/>
        </p:nvSpPr>
        <p:spPr>
          <a:xfrm>
            <a:off x="8839200" y="3657600"/>
            <a:ext cx="61976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Ensured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row per event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all fact tables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Added DBT uniqueness tests to validate grain at build time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34400" y="5105400"/>
            <a:ext cx="6807200" cy="1397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9" name="Text 17"/>
          <p:cNvSpPr/>
          <p:nvPr/>
        </p:nvSpPr>
        <p:spPr>
          <a:xfrm>
            <a:off x="8839200" y="5257800"/>
            <a:ext cx="61976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always define grain before building fact tables — validate early with tests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16000"/>
            <a:ext cx="14427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Results &amp; Operations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510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Delivering clean analytics-ready models with automated validation and reliable CDC sync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6" name="Shape 4"/>
          <p:cNvSpPr/>
          <p:nvPr/>
        </p:nvSpPr>
        <p:spPr>
          <a:xfrm>
            <a:off x="12192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Models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9200" y="39624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Analytics-ready star schema in Redshift with tested, documented, version-controlled transformations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0" name="Shape 8"/>
          <p:cNvSpPr/>
          <p:nvPr/>
        </p:nvSpPr>
        <p:spPr>
          <a:xfrm>
            <a:off x="61468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1468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 Pipeline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46800" y="3962400"/>
            <a:ext cx="396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CDC continuous sync, DBT tests on every model, layered architecture preventing data quality regressions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69600" y="2540000"/>
            <a:ext cx="4572000" cy="5842000"/>
          </a:xfrm>
          <a:prstGeom prst="rect">
            <a:avLst/>
          </a:prstGeom>
          <a:solidFill>
            <a:srgbClr val="1E3F3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744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1074400" y="34544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Trusted Analytics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074400" y="3962400"/>
            <a:ext cx="3962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QuickSight dashboards powered by fast star-schema queries: analysts trust the data for performance reporting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/ Deliverables &amp;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Star-Schema Warehouse with Automated DBT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397000"/>
            <a:ext cx="69850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1701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600200"/>
            <a:ext cx="5765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Analytics-Ready Data Models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981200"/>
            <a:ext cx="5765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star schema in Redshift: 4 dimensions + 3 fact tables, all tested and documented via DBT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56600" y="1397000"/>
            <a:ext cx="69850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661400" y="1701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2571" y="82550"/>
                </a:moveTo>
                <a:cubicBezTo>
                  <a:pt x="84587" y="82550"/>
                  <a:pt x="94343" y="74014"/>
                  <a:pt x="94343" y="63500"/>
                </a:cubicBezTo>
                <a:cubicBezTo>
                  <a:pt x="94343" y="52986"/>
                  <a:pt x="84587" y="44450"/>
                  <a:pt x="72571" y="44450"/>
                </a:cubicBezTo>
                <a:cubicBezTo>
                  <a:pt x="60555" y="44450"/>
                  <a:pt x="50800" y="52986"/>
                  <a:pt x="50800" y="63500"/>
                </a:cubicBezTo>
                <a:cubicBezTo>
                  <a:pt x="50800" y="74014"/>
                  <a:pt x="60555" y="82550"/>
                  <a:pt x="72571" y="82550"/>
                </a:cubicBezTo>
                <a:close/>
                <a:moveTo>
                  <a:pt x="145143" y="63500"/>
                </a:moveTo>
                <a:cubicBezTo>
                  <a:pt x="145143" y="89535"/>
                  <a:pt x="127272" y="111919"/>
                  <a:pt x="101600" y="121682"/>
                </a:cubicBezTo>
                <a:lnTo>
                  <a:pt x="101600" y="177800"/>
                </a:lnTo>
                <a:lnTo>
                  <a:pt x="261257" y="177800"/>
                </a:lnTo>
                <a:cubicBezTo>
                  <a:pt x="285296" y="177800"/>
                  <a:pt x="304800" y="160734"/>
                  <a:pt x="304800" y="139700"/>
                </a:cubicBezTo>
                <a:lnTo>
                  <a:pt x="304800" y="121682"/>
                </a:lnTo>
                <a:cubicBezTo>
                  <a:pt x="279128" y="111919"/>
                  <a:pt x="261257" y="89535"/>
                  <a:pt x="261257" y="63500"/>
                </a:cubicBezTo>
                <a:cubicBezTo>
                  <a:pt x="261257" y="28416"/>
                  <a:pt x="293733" y="0"/>
                  <a:pt x="333829" y="0"/>
                </a:cubicBezTo>
                <a:cubicBezTo>
                  <a:pt x="373924" y="0"/>
                  <a:pt x="406400" y="28416"/>
                  <a:pt x="406400" y="63500"/>
                </a:cubicBezTo>
                <a:cubicBezTo>
                  <a:pt x="406400" y="89535"/>
                  <a:pt x="388529" y="111919"/>
                  <a:pt x="362857" y="121682"/>
                </a:cubicBezTo>
                <a:lnTo>
                  <a:pt x="362857" y="139700"/>
                </a:lnTo>
                <a:cubicBezTo>
                  <a:pt x="362857" y="188833"/>
                  <a:pt x="317409" y="228600"/>
                  <a:pt x="261257" y="228600"/>
                </a:cubicBezTo>
                <a:lnTo>
                  <a:pt x="101600" y="228600"/>
                </a:lnTo>
                <a:lnTo>
                  <a:pt x="101600" y="284718"/>
                </a:lnTo>
                <a:cubicBezTo>
                  <a:pt x="127272" y="294481"/>
                  <a:pt x="145143" y="316865"/>
                  <a:pt x="145143" y="342900"/>
                </a:cubicBezTo>
                <a:cubicBezTo>
                  <a:pt x="145143" y="377984"/>
                  <a:pt x="112667" y="406400"/>
                  <a:pt x="72571" y="406400"/>
                </a:cubicBezTo>
                <a:cubicBezTo>
                  <a:pt x="32476" y="406400"/>
                  <a:pt x="0" y="377984"/>
                  <a:pt x="0" y="342900"/>
                </a:cubicBezTo>
                <a:cubicBezTo>
                  <a:pt x="0" y="316865"/>
                  <a:pt x="17871" y="294481"/>
                  <a:pt x="43543" y="284718"/>
                </a:cubicBezTo>
                <a:lnTo>
                  <a:pt x="43543" y="121761"/>
                </a:lnTo>
                <a:cubicBezTo>
                  <a:pt x="17871" y="111919"/>
                  <a:pt x="0" y="89535"/>
                  <a:pt x="0" y="63500"/>
                </a:cubicBezTo>
                <a:cubicBezTo>
                  <a:pt x="0" y="28416"/>
                  <a:pt x="32476" y="0"/>
                  <a:pt x="72571" y="0"/>
                </a:cubicBezTo>
                <a:cubicBezTo>
                  <a:pt x="112667" y="0"/>
                  <a:pt x="145143" y="28416"/>
                  <a:pt x="145143" y="63500"/>
                </a:cubicBezTo>
                <a:close/>
                <a:moveTo>
                  <a:pt x="355600" y="63500"/>
                </a:moveTo>
                <a:cubicBezTo>
                  <a:pt x="355600" y="52986"/>
                  <a:pt x="345845" y="44450"/>
                  <a:pt x="333829" y="44450"/>
                </a:cubicBezTo>
                <a:cubicBezTo>
                  <a:pt x="321813" y="44450"/>
                  <a:pt x="312057" y="52986"/>
                  <a:pt x="312057" y="63500"/>
                </a:cubicBezTo>
                <a:cubicBezTo>
                  <a:pt x="312057" y="74014"/>
                  <a:pt x="321813" y="82550"/>
                  <a:pt x="333829" y="82550"/>
                </a:cubicBezTo>
                <a:cubicBezTo>
                  <a:pt x="345845" y="82550"/>
                  <a:pt x="355600" y="74014"/>
                  <a:pt x="355600" y="63500"/>
                </a:cubicBezTo>
                <a:close/>
                <a:moveTo>
                  <a:pt x="72571" y="361950"/>
                </a:moveTo>
                <a:cubicBezTo>
                  <a:pt x="84587" y="361950"/>
                  <a:pt x="94343" y="353414"/>
                  <a:pt x="94343" y="342900"/>
                </a:cubicBezTo>
                <a:cubicBezTo>
                  <a:pt x="94343" y="332386"/>
                  <a:pt x="84587" y="323850"/>
                  <a:pt x="72571" y="323850"/>
                </a:cubicBezTo>
                <a:cubicBezTo>
                  <a:pt x="60555" y="323850"/>
                  <a:pt x="50800" y="332386"/>
                  <a:pt x="50800" y="342900"/>
                </a:cubicBezTo>
                <a:cubicBezTo>
                  <a:pt x="50800" y="353414"/>
                  <a:pt x="60555" y="361950"/>
                  <a:pt x="72571" y="3619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0" y="1600200"/>
            <a:ext cx="5765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Version-Controlled Transformations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71000" y="1981200"/>
            <a:ext cx="5765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DBT models in Git: peer review, change tracking, and rollback capability for every transformation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429000"/>
            <a:ext cx="69850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9200" y="3733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25400" y="11351"/>
                  <a:pt x="36751" y="0"/>
                  <a:pt x="50800" y="0"/>
                </a:cubicBezTo>
                <a:lnTo>
                  <a:pt x="228600" y="0"/>
                </a:lnTo>
                <a:cubicBezTo>
                  <a:pt x="242649" y="0"/>
                  <a:pt x="254000" y="11351"/>
                  <a:pt x="254000" y="25400"/>
                </a:cubicBezTo>
                <a:cubicBezTo>
                  <a:pt x="254000" y="39449"/>
                  <a:pt x="242649" y="50800"/>
                  <a:pt x="228600" y="50800"/>
                </a:cubicBezTo>
                <a:lnTo>
                  <a:pt x="228600" y="178911"/>
                </a:lnTo>
                <a:cubicBezTo>
                  <a:pt x="176133" y="202962"/>
                  <a:pt x="139700" y="255984"/>
                  <a:pt x="139700" y="317500"/>
                </a:cubicBezTo>
                <a:cubicBezTo>
                  <a:pt x="139700" y="349012"/>
                  <a:pt x="149225" y="378301"/>
                  <a:pt x="165656" y="402590"/>
                </a:cubicBezTo>
                <a:cubicBezTo>
                  <a:pt x="157480" y="405051"/>
                  <a:pt x="148749" y="406400"/>
                  <a:pt x="139700" y="406400"/>
                </a:cubicBezTo>
                <a:cubicBezTo>
                  <a:pt x="90567" y="406400"/>
                  <a:pt x="50800" y="366633"/>
                  <a:pt x="50800" y="317500"/>
                </a:cubicBezTo>
                <a:lnTo>
                  <a:pt x="50800" y="50800"/>
                </a:lnTo>
                <a:cubicBezTo>
                  <a:pt x="36751" y="50800"/>
                  <a:pt x="25400" y="39449"/>
                  <a:pt x="25400" y="25400"/>
                </a:cubicBezTo>
                <a:close/>
                <a:moveTo>
                  <a:pt x="101600" y="50800"/>
                </a:moveTo>
                <a:lnTo>
                  <a:pt x="101600" y="152400"/>
                </a:lnTo>
                <a:lnTo>
                  <a:pt x="177800" y="152400"/>
                </a:lnTo>
                <a:lnTo>
                  <a:pt x="177800" y="50800"/>
                </a:lnTo>
                <a:lnTo>
                  <a:pt x="101600" y="50800"/>
                </a:lnTo>
                <a:close/>
                <a:moveTo>
                  <a:pt x="177800" y="317500"/>
                </a:moveTo>
                <a:cubicBezTo>
                  <a:pt x="177800" y="254416"/>
                  <a:pt x="229016" y="203200"/>
                  <a:pt x="292100" y="203200"/>
                </a:cubicBezTo>
                <a:cubicBezTo>
                  <a:pt x="355184" y="203200"/>
                  <a:pt x="406400" y="254416"/>
                  <a:pt x="406400" y="317500"/>
                </a:cubicBezTo>
                <a:cubicBezTo>
                  <a:pt x="406400" y="380584"/>
                  <a:pt x="355184" y="431800"/>
                  <a:pt x="292100" y="431800"/>
                </a:cubicBezTo>
                <a:cubicBezTo>
                  <a:pt x="229016" y="431800"/>
                  <a:pt x="177800" y="380584"/>
                  <a:pt x="177800" y="317500"/>
                </a:cubicBezTo>
                <a:close/>
                <a:moveTo>
                  <a:pt x="337661" y="269161"/>
                </a:moveTo>
                <a:cubicBezTo>
                  <a:pt x="332026" y="265033"/>
                  <a:pt x="324009" y="266303"/>
                  <a:pt x="319881" y="271939"/>
                </a:cubicBezTo>
                <a:lnTo>
                  <a:pt x="277813" y="329803"/>
                </a:lnTo>
                <a:lnTo>
                  <a:pt x="256540" y="308531"/>
                </a:lnTo>
                <a:cubicBezTo>
                  <a:pt x="251619" y="303609"/>
                  <a:pt x="243523" y="303609"/>
                  <a:pt x="238601" y="308531"/>
                </a:cubicBezTo>
                <a:cubicBezTo>
                  <a:pt x="233680" y="313452"/>
                  <a:pt x="233680" y="321548"/>
                  <a:pt x="238601" y="326469"/>
                </a:cubicBezTo>
                <a:lnTo>
                  <a:pt x="270351" y="358219"/>
                </a:lnTo>
                <a:cubicBezTo>
                  <a:pt x="272971" y="360839"/>
                  <a:pt x="276622" y="362188"/>
                  <a:pt x="280352" y="361871"/>
                </a:cubicBezTo>
                <a:cubicBezTo>
                  <a:pt x="284083" y="361553"/>
                  <a:pt x="287417" y="359648"/>
                  <a:pt x="289639" y="356711"/>
                </a:cubicBezTo>
                <a:lnTo>
                  <a:pt x="340439" y="286861"/>
                </a:lnTo>
                <a:cubicBezTo>
                  <a:pt x="344567" y="281226"/>
                  <a:pt x="343297" y="273209"/>
                  <a:pt x="337661" y="26916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632200"/>
            <a:ext cx="5765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Data Validation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4013200"/>
            <a:ext cx="5765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DBT tests run on every model: not_null, unique, relationships — catching data quality issues before they reach BI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56600" y="3429000"/>
            <a:ext cx="69850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661400" y="3733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2308" y="181372"/>
                </a:moveTo>
                <a:cubicBezTo>
                  <a:pt x="62865" y="107553"/>
                  <a:pt x="126444" y="50800"/>
                  <a:pt x="203200" y="50800"/>
                </a:cubicBezTo>
                <a:cubicBezTo>
                  <a:pt x="245269" y="50800"/>
                  <a:pt x="283369" y="67866"/>
                  <a:pt x="310991" y="95409"/>
                </a:cubicBezTo>
                <a:cubicBezTo>
                  <a:pt x="311150" y="95568"/>
                  <a:pt x="311309" y="95726"/>
                  <a:pt x="311468" y="95885"/>
                </a:cubicBezTo>
                <a:lnTo>
                  <a:pt x="317500" y="101600"/>
                </a:lnTo>
                <a:lnTo>
                  <a:pt x="279479" y="101600"/>
                </a:lnTo>
                <a:cubicBezTo>
                  <a:pt x="265430" y="101600"/>
                  <a:pt x="254079" y="112951"/>
                  <a:pt x="254079" y="127000"/>
                </a:cubicBezTo>
                <a:cubicBezTo>
                  <a:pt x="254079" y="141049"/>
                  <a:pt x="265430" y="152400"/>
                  <a:pt x="279479" y="152400"/>
                </a:cubicBezTo>
                <a:lnTo>
                  <a:pt x="381079" y="152400"/>
                </a:lnTo>
                <a:cubicBezTo>
                  <a:pt x="395129" y="152400"/>
                  <a:pt x="406479" y="141049"/>
                  <a:pt x="406479" y="127000"/>
                </a:cubicBezTo>
                <a:lnTo>
                  <a:pt x="406479" y="25400"/>
                </a:lnTo>
                <a:cubicBezTo>
                  <a:pt x="406479" y="11351"/>
                  <a:pt x="395129" y="0"/>
                  <a:pt x="381079" y="0"/>
                </a:cubicBezTo>
                <a:cubicBezTo>
                  <a:pt x="367030" y="0"/>
                  <a:pt x="355679" y="11351"/>
                  <a:pt x="355679" y="25400"/>
                </a:cubicBezTo>
                <a:lnTo>
                  <a:pt x="355679" y="67786"/>
                </a:lnTo>
                <a:lnTo>
                  <a:pt x="346710" y="59293"/>
                </a:lnTo>
                <a:cubicBezTo>
                  <a:pt x="309959" y="22701"/>
                  <a:pt x="259159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lose/>
                <a:moveTo>
                  <a:pt x="404336" y="232172"/>
                </a:moveTo>
                <a:cubicBezTo>
                  <a:pt x="406321" y="218281"/>
                  <a:pt x="396637" y="205423"/>
                  <a:pt x="382826" y="203438"/>
                </a:cubicBezTo>
                <a:cubicBezTo>
                  <a:pt x="369014" y="201454"/>
                  <a:pt x="356076" y="211138"/>
                  <a:pt x="354092" y="224949"/>
                </a:cubicBezTo>
                <a:cubicBezTo>
                  <a:pt x="343535" y="298768"/>
                  <a:pt x="279956" y="355521"/>
                  <a:pt x="203200" y="355521"/>
                </a:cubicBezTo>
                <a:cubicBezTo>
                  <a:pt x="161131" y="355521"/>
                  <a:pt x="123031" y="338455"/>
                  <a:pt x="95409" y="310912"/>
                </a:cubicBezTo>
                <a:cubicBezTo>
                  <a:pt x="95250" y="310753"/>
                  <a:pt x="95091" y="310594"/>
                  <a:pt x="94932" y="310436"/>
                </a:cubicBezTo>
                <a:lnTo>
                  <a:pt x="88900" y="304721"/>
                </a:lnTo>
                <a:lnTo>
                  <a:pt x="126921" y="304721"/>
                </a:lnTo>
                <a:cubicBezTo>
                  <a:pt x="140970" y="304721"/>
                  <a:pt x="152321" y="293370"/>
                  <a:pt x="152321" y="279321"/>
                </a:cubicBezTo>
                <a:cubicBezTo>
                  <a:pt x="152321" y="265271"/>
                  <a:pt x="140970" y="253921"/>
                  <a:pt x="126921" y="253921"/>
                </a:cubicBezTo>
                <a:lnTo>
                  <a:pt x="25400" y="254000"/>
                </a:lnTo>
                <a:cubicBezTo>
                  <a:pt x="18653" y="254000"/>
                  <a:pt x="12144" y="256699"/>
                  <a:pt x="7382" y="261541"/>
                </a:cubicBezTo>
                <a:cubicBezTo>
                  <a:pt x="2619" y="266383"/>
                  <a:pt x="-79" y="272812"/>
                  <a:pt x="0" y="279638"/>
                </a:cubicBezTo>
                <a:lnTo>
                  <a:pt x="794" y="380444"/>
                </a:lnTo>
                <a:cubicBezTo>
                  <a:pt x="873" y="394494"/>
                  <a:pt x="12383" y="405765"/>
                  <a:pt x="26432" y="405606"/>
                </a:cubicBezTo>
                <a:cubicBezTo>
                  <a:pt x="40481" y="405448"/>
                  <a:pt x="51753" y="394017"/>
                  <a:pt x="51594" y="379968"/>
                </a:cubicBezTo>
                <a:lnTo>
                  <a:pt x="51276" y="339090"/>
                </a:lnTo>
                <a:lnTo>
                  <a:pt x="59769" y="347107"/>
                </a:lnTo>
                <a:cubicBezTo>
                  <a:pt x="96520" y="383699"/>
                  <a:pt x="147241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9271000" y="3632200"/>
            <a:ext cx="5765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CDC Sync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71000" y="4013200"/>
            <a:ext cx="5765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DMS with CDC ensures near real-time data sync from MariaDB to Redshift without manual intervention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 Approach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4400" y="6096000"/>
            <a:ext cx="14427200" cy="1778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6299200"/>
            <a:ext cx="1381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architecture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staging → intermediate → marts,  each layer validates before passing downstream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DBT tests for every model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schema, data quality, and relationship tests run on every build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Version-controlled transformations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Git enables code review, audit trails, and safe deployments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/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Impact: From Fragmented Data to Trusted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9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879600"/>
            <a:ext cx="69850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082800"/>
            <a:ext cx="63754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fragmented across multiple tables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Manual reporting processes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Inconsistent insights across teams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data quality validation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Engineering-dependent analytics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01000" y="33020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8763000" y="139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763000" y="1879600"/>
            <a:ext cx="6578600" cy="3302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0" name="Text 8"/>
          <p:cNvSpPr/>
          <p:nvPr/>
        </p:nvSpPr>
        <p:spPr>
          <a:xfrm>
            <a:off x="9067800" y="2082800"/>
            <a:ext cx="59690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Centralised cloud warehouse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ELT pipeline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Consistent, trusted analytics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DBT tests on every model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Self-serve BI for analysts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14400" y="6096000"/>
            <a:ext cx="34290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6248400"/>
            <a:ext cx="2819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19200" y="6781800"/>
            <a:ext cx="281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 real-time data sync via CDC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97400" y="6096000"/>
            <a:ext cx="34290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02200" y="6248400"/>
            <a:ext cx="2819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Queries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02200" y="6781800"/>
            <a:ext cx="281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 schema optimised for BI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80400" y="6096000"/>
            <a:ext cx="34290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585200" y="6248400"/>
            <a:ext cx="2819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Tested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585200" y="6781800"/>
            <a:ext cx="281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DBT tests on every build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963400" y="6096000"/>
            <a:ext cx="33782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268200" y="6248400"/>
            <a:ext cx="2768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268200" y="6781800"/>
            <a:ext cx="276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ready for new data sources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0" y="4283004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224889" y="4102382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66276" y="3452142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/ Full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ELT Architecture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524000"/>
            <a:ext cx="2540000" cy="1016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764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MariaDB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OLTP Source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4400" y="19685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7" name="Text 5"/>
          <p:cNvSpPr/>
          <p:nvPr/>
        </p:nvSpPr>
        <p:spPr>
          <a:xfrm>
            <a:off x="3454400" y="1651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16400" y="1524000"/>
            <a:ext cx="25400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4216400" y="16764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DMS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+ Replicate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56400" y="19685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518400" y="1524000"/>
            <a:ext cx="2540000" cy="1016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2" name="Text 10"/>
          <p:cNvSpPr/>
          <p:nvPr/>
        </p:nvSpPr>
        <p:spPr>
          <a:xfrm>
            <a:off x="7518400" y="16764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Redshift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/ Staging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0" y="19685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820400" y="1524000"/>
            <a:ext cx="25400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0820400" y="16764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090400" y="2540000"/>
            <a:ext cx="0" cy="762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0820400" y="3302000"/>
            <a:ext cx="2540000" cy="1016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8" name="Text 16"/>
          <p:cNvSpPr/>
          <p:nvPr/>
        </p:nvSpPr>
        <p:spPr>
          <a:xfrm>
            <a:off x="10820400" y="34544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Redshift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Facts + Dimensions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090400" y="4318000"/>
            <a:ext cx="0" cy="762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0820400" y="5080000"/>
            <a:ext cx="2540000" cy="1016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21" name="Text 19"/>
          <p:cNvSpPr/>
          <p:nvPr/>
        </p:nvSpPr>
        <p:spPr>
          <a:xfrm>
            <a:off x="10820400" y="5232400"/>
            <a:ext cx="254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QuickSight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 Dashboards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292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Three-Layer Transformation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4400" y="3429000"/>
            <a:ext cx="3048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" y="3530600"/>
            <a:ext cx="2743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Staging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type, default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4572000"/>
            <a:ext cx="3048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4673600"/>
            <a:ext cx="2743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Intermediate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Join, widen, control grain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5715000"/>
            <a:ext cx="3048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5816600"/>
            <a:ext cx="2743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Marts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 schema for BI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438400" y="4445000"/>
            <a:ext cx="0" cy="127000"/>
          </a:xfrm>
          <a:prstGeom prst="straightConnector1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438400" y="5588000"/>
            <a:ext cx="0" cy="127000"/>
          </a:xfrm>
          <a:prstGeom prst="straightConnector1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4318000" y="330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Schema Output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318000" y="3810000"/>
            <a:ext cx="5842000" cy="1270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33" name="Text 31"/>
          <p:cNvSpPr/>
          <p:nvPr/>
        </p:nvSpPr>
        <p:spPr>
          <a:xfrm>
            <a:off x="4521200" y="3937000"/>
            <a:ext cx="5435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Dimensions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dim_students · dim_classes · dim_programmes · dim_content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18000" y="5270500"/>
            <a:ext cx="5842000" cy="1270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35" name="Text 33"/>
          <p:cNvSpPr/>
          <p:nvPr/>
        </p:nvSpPr>
        <p:spPr>
          <a:xfrm>
            <a:off x="4521200" y="5397500"/>
            <a:ext cx="5435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Facts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fact_student_assessments · fact_student_activity · fact_performance_metrics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14400" y="6731000"/>
            <a:ext cx="14427200" cy="1270000"/>
          </a:xfrm>
          <a:prstGeom prst="rect">
            <a:avLst/>
          </a:prstGeom>
          <a:solidFill>
            <a:srgbClr val="E1E7E5"/>
          </a:solidFill>
          <a:ln/>
        </p:spPr>
      </p:sp>
      <p:sp>
        <p:nvSpPr>
          <p:cNvPr id="37" name="Text 35"/>
          <p:cNvSpPr/>
          <p:nvPr/>
        </p:nvSpPr>
        <p:spPr>
          <a:xfrm>
            <a:off x="1219200" y="6883400"/>
            <a:ext cx="13817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ELT architecture pattern is reusable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future data integration projects, modular tools, layered transformations, and star-schema output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6050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yh56twrgxihg/mnt/agents/output/sandtechnology-warehousing/images/5_A_Complete_Guide_to_Data_Pipeli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3632">
              <a:alpha val="90196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3048000"/>
            <a:ext cx="1270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 built a scalable ELT pipeline using AWS DMS, Redshift, and DBT that transformed raw student operational data into a structured star-schema warehouse powering analytics and reporting."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4699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Godfrey Lehoko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5334000"/>
            <a:ext cx="1016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914400" y="571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6477000"/>
            <a:ext cx="762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SandTechnology Warehousing + Migration Project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ELT Pipeline | Data Engineering | Analytics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SandTechnology Warehousing + Migration</dc:title>
  <dc:subject>SandTechnology Warehousing + Migration</dc:subject>
  <dc:creator>Kimi</dc:creator>
  <cp:lastModifiedBy>Kimi</cp:lastModifiedBy>
  <cp:revision>1</cp:revision>
  <dcterms:created xsi:type="dcterms:W3CDTF">2026-06-25T13:48:50Z</dcterms:created>
  <dcterms:modified xsi:type="dcterms:W3CDTF">2026-06-25T13:48:50Z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{"Label":"SandTechnology Warehousing + Migration","ContentProducer":"001191110108MACG2KBH8F10000","ProduceID":"19efad6b-a402-803e-8000-0000fcb2f1d3","ReservedCode1":"","ContentPropagator":"001191110108MACG2KBH8F20000","PropagateID":"19efad35-6e92-8634-8000-09b369cb696a","ReservedCode2":""}</vt:lpwstr>
  </property>
</Properties>
</file>